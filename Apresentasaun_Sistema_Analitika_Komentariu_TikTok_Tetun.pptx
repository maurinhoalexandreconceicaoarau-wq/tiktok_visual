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  <p:defaultTextStyle>
    <a:lvl1pPr>
      <a:defRPr/>
    </a:lvl1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5" name="Shape 5"/>
          <p:cNvSpPr txBox="1"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6" name="Shape 6"/>
          <p:cNvSpPr txBox="1"/>
          <p:nvPr/>
        </p:nvSpPr>
        <p:spPr>
          <a:xfrm>
            <a:off x="8229600" y="731520"/>
            <a:ext cx="3154680" cy="5394960"/>
          </a:xfrm>
          <a:prstGeom prst="roundRect">
            <a:avLst/>
          </a:prstGeom>
          <a:solidFill>
            <a:srgbClr val="20183E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777240" y="566928"/>
            <a:ext cx="6217920" cy="29260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PROJETU ANALÍTIKA NO VISUALIZASAUN DADUS</a:t>
            </a:r>
            <a:endParaRPr lang="tet-TL" sz="1100"/>
          </a:p>
        </p:txBody>
      </p:sp>
      <p:sp>
        <p:nvSpPr>
          <p:cNvPr id="8" name="Shape 8"/>
          <p:cNvSpPr txBox="1"/>
          <p:nvPr/>
        </p:nvSpPr>
        <p:spPr>
          <a:xfrm>
            <a:off x="777240" y="1417320"/>
            <a:ext cx="6492240" cy="1417320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3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Sistema Analitiku ba</a:t>
            </a:r>
            <a:endParaRPr lang="tet-TL" sz="3400"/>
          </a:p>
          <a:p>
            <a:pPr algn="l"/>
            <a:r>
              <a:rPr lang="tet-TL" sz="3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Komentáriu TikTok</a:t>
            </a:r>
            <a:endParaRPr lang="tet-TL" sz="3400"/>
          </a:p>
        </p:txBody>
      </p:sp>
      <p:sp>
        <p:nvSpPr>
          <p:cNvPr id="9" name="Shape 9"/>
          <p:cNvSpPr txBox="1"/>
          <p:nvPr/>
        </p:nvSpPr>
        <p:spPr>
          <a:xfrm>
            <a:off x="804672" y="3310128"/>
            <a:ext cx="6035040" cy="768096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9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Analiza sentimentu, tópiku no engagement liuhosi dashboard interativu.</a:t>
            </a:r>
            <a:endParaRPr lang="tet-TL" sz="1900"/>
          </a:p>
        </p:txBody>
      </p:sp>
      <p:sp>
        <p:nvSpPr>
          <p:cNvPr id="10" name="Shape 10"/>
          <p:cNvSpPr txBox="1"/>
          <p:nvPr/>
        </p:nvSpPr>
        <p:spPr>
          <a:xfrm>
            <a:off x="804672" y="4617720"/>
            <a:ext cx="5394960" cy="36576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1" name="Shape 11"/>
          <p:cNvSpPr txBox="1"/>
          <p:nvPr/>
        </p:nvSpPr>
        <p:spPr>
          <a:xfrm>
            <a:off x="804672" y="4892040"/>
            <a:ext cx="5852160" cy="777240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3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Apresenta: ____________________</a:t>
            </a:r>
            <a:endParaRPr lang="tet-TL" sz="1300"/>
          </a:p>
          <a:p>
            <a:pPr algn="l"/>
            <a:r>
              <a:rPr lang="tet-TL" sz="13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Orientador: ____________________</a:t>
            </a:r>
            <a:endParaRPr lang="tet-TL" sz="1300"/>
          </a:p>
        </p:txBody>
      </p:sp>
      <p:sp>
        <p:nvSpPr>
          <p:cNvPr id="12" name="Shape 12"/>
          <p:cNvSpPr txBox="1"/>
          <p:nvPr/>
        </p:nvSpPr>
        <p:spPr>
          <a:xfrm>
            <a:off x="8485632" y="1051560"/>
            <a:ext cx="2606040" cy="34747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3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DADUS → INSIGHT</a:t>
            </a:r>
            <a:endParaRPr lang="tet-TL" sz="1300"/>
          </a:p>
        </p:txBody>
      </p:sp>
      <p:sp>
        <p:nvSpPr>
          <p:cNvPr id="13" name="Shape 13"/>
          <p:cNvSpPr txBox="1"/>
          <p:nvPr/>
        </p:nvSpPr>
        <p:spPr>
          <a:xfrm>
            <a:off x="8549640" y="1828800"/>
            <a:ext cx="2194560" cy="2103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Pozitivu</a:t>
            </a:r>
            <a:endParaRPr lang="tet-TL" sz="1200"/>
          </a:p>
        </p:txBody>
      </p:sp>
      <p:sp>
        <p:nvSpPr>
          <p:cNvPr id="14" name="Shape 14"/>
          <p:cNvSpPr txBox="1"/>
          <p:nvPr/>
        </p:nvSpPr>
        <p:spPr>
          <a:xfrm>
            <a:off x="8549640" y="2121408"/>
            <a:ext cx="2331720" cy="182880"/>
          </a:xfrm>
          <a:prstGeom prst="roundRect">
            <a:avLst/>
          </a:prstGeom>
          <a:solidFill>
            <a:srgbClr val="302554"/>
          </a:solidFill>
          <a:ln w="9525">
            <a:noFill/>
          </a:ln>
        </p:spPr>
        <p:txBody>
          <a:bodyPr/>
          <a:p/>
        </p:txBody>
      </p:sp>
      <p:sp>
        <p:nvSpPr>
          <p:cNvPr id="15" name="Shape 15"/>
          <p:cNvSpPr txBox="1"/>
          <p:nvPr/>
        </p:nvSpPr>
        <p:spPr>
          <a:xfrm>
            <a:off x="8549640" y="2121408"/>
            <a:ext cx="1818741" cy="182880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8549640" y="2788920"/>
            <a:ext cx="2194560" cy="2103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Neutru</a:t>
            </a:r>
            <a:endParaRPr lang="tet-TL" sz="1200"/>
          </a:p>
        </p:txBody>
      </p:sp>
      <p:sp>
        <p:nvSpPr>
          <p:cNvPr id="17" name="Shape 17"/>
          <p:cNvSpPr txBox="1"/>
          <p:nvPr/>
        </p:nvSpPr>
        <p:spPr>
          <a:xfrm>
            <a:off x="8549640" y="3081527"/>
            <a:ext cx="2331720" cy="182880"/>
          </a:xfrm>
          <a:prstGeom prst="roundRect">
            <a:avLst/>
          </a:prstGeom>
          <a:solidFill>
            <a:srgbClr val="302554"/>
          </a:solidFill>
          <a:ln w="9525">
            <a:noFill/>
          </a:ln>
        </p:spPr>
        <p:txBody>
          <a:bodyPr/>
          <a:p/>
        </p:txBody>
      </p:sp>
      <p:sp>
        <p:nvSpPr>
          <p:cNvPr id="18" name="Shape 18"/>
          <p:cNvSpPr txBox="1"/>
          <p:nvPr/>
        </p:nvSpPr>
        <p:spPr>
          <a:xfrm>
            <a:off x="8549640" y="3081527"/>
            <a:ext cx="1352397" cy="182880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19" name="Shape 19"/>
          <p:cNvSpPr txBox="1"/>
          <p:nvPr/>
        </p:nvSpPr>
        <p:spPr>
          <a:xfrm>
            <a:off x="8549640" y="3749039"/>
            <a:ext cx="2194560" cy="2103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Negativu</a:t>
            </a:r>
            <a:endParaRPr lang="tet-TL" sz="1200"/>
          </a:p>
        </p:txBody>
      </p:sp>
      <p:sp>
        <p:nvSpPr>
          <p:cNvPr id="20" name="Shape 20"/>
          <p:cNvSpPr txBox="1"/>
          <p:nvPr/>
        </p:nvSpPr>
        <p:spPr>
          <a:xfrm>
            <a:off x="8549640" y="4041648"/>
            <a:ext cx="2331720" cy="182880"/>
          </a:xfrm>
          <a:prstGeom prst="roundRect">
            <a:avLst/>
          </a:prstGeom>
          <a:solidFill>
            <a:srgbClr val="302554"/>
          </a:solidFill>
          <a:ln w="9525">
            <a:noFill/>
          </a:ln>
        </p:spPr>
        <p:txBody>
          <a:bodyPr/>
          <a:p/>
        </p:txBody>
      </p:sp>
      <p:sp>
        <p:nvSpPr>
          <p:cNvPr id="21" name="Shape 21"/>
          <p:cNvSpPr txBox="1"/>
          <p:nvPr/>
        </p:nvSpPr>
        <p:spPr>
          <a:xfrm>
            <a:off x="8549640" y="4041648"/>
            <a:ext cx="466344" cy="182880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22" name="Shape 22"/>
          <p:cNvSpPr txBox="1"/>
          <p:nvPr/>
        </p:nvSpPr>
        <p:spPr>
          <a:xfrm>
            <a:off x="8503920" y="5047488"/>
            <a:ext cx="2560320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Dashboard</a:t>
            </a:r>
            <a:endParaRPr lang="tet-TL" sz="2000"/>
          </a:p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interativu</a:t>
            </a:r>
            <a:endParaRPr lang="tet-TL" sz="2000"/>
          </a:p>
        </p:txBody>
      </p:sp>
      <p:sp>
        <p:nvSpPr>
          <p:cNvPr id="23" name="Shape 23"/>
          <p:cNvSpPr txBox="1"/>
          <p:nvPr/>
        </p:nvSpPr>
        <p:spPr>
          <a:xfrm>
            <a:off x="566928" y="6556248"/>
            <a:ext cx="731520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24" name="Shape 24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01</a:t>
            </a:r>
            <a:endParaRPr lang="tet-TL" sz="90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01 · KONTEKSTU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Kontekstu: komentáriu barak, informasaun barak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594360" y="1554480"/>
            <a:ext cx="3474720" cy="20574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594360" y="1554480"/>
            <a:ext cx="64008" cy="20574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758952" y="1682495"/>
            <a:ext cx="316382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Komentariu mak sinal</a:t>
            </a:r>
            <a:endParaRPr lang="tet-TL" sz="1600"/>
          </a:p>
        </p:txBody>
      </p:sp>
      <p:sp>
        <p:nvSpPr>
          <p:cNvPr id="10" name="Shape 10"/>
          <p:cNvSpPr txBox="1"/>
          <p:nvPr/>
        </p:nvSpPr>
        <p:spPr>
          <a:xfrm>
            <a:off x="758952" y="2057400"/>
            <a:ext cx="3163824" cy="145389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5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Audiensia hatudu opiniaun, pergunta no reasaun liuhosi testu, likes no replies.</a:t>
            </a:r>
            <a:endParaRPr lang="tet-TL" sz="1500"/>
          </a:p>
        </p:txBody>
      </p:sp>
      <p:sp>
        <p:nvSpPr>
          <p:cNvPr id="11" name="Shape 11"/>
          <p:cNvSpPr txBox="1"/>
          <p:nvPr/>
        </p:nvSpPr>
        <p:spPr>
          <a:xfrm>
            <a:off x="4352544" y="1554480"/>
            <a:ext cx="3474720" cy="20574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4352544" y="1554480"/>
            <a:ext cx="64008" cy="2057400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3" name="Shape 13"/>
          <p:cNvSpPr txBox="1"/>
          <p:nvPr/>
        </p:nvSpPr>
        <p:spPr>
          <a:xfrm>
            <a:off x="4517136" y="1682495"/>
            <a:ext cx="316382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Dadus difisil atu haree</a:t>
            </a:r>
            <a:endParaRPr lang="tet-TL" sz="1600"/>
          </a:p>
        </p:txBody>
      </p:sp>
      <p:sp>
        <p:nvSpPr>
          <p:cNvPr id="14" name="Shape 14"/>
          <p:cNvSpPr txBox="1"/>
          <p:nvPr/>
        </p:nvSpPr>
        <p:spPr>
          <a:xfrm>
            <a:off x="4517136" y="2057400"/>
            <a:ext cx="3163824" cy="145389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5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Bainhira komentáriu barak, leitura manual susar atu kompara tempu, sentimentu no tópiku.</a:t>
            </a:r>
            <a:endParaRPr lang="tet-TL" sz="1500"/>
          </a:p>
        </p:txBody>
      </p:sp>
      <p:sp>
        <p:nvSpPr>
          <p:cNvPr id="15" name="Shape 15"/>
          <p:cNvSpPr txBox="1"/>
          <p:nvPr/>
        </p:nvSpPr>
        <p:spPr>
          <a:xfrm>
            <a:off x="8110727" y="1554480"/>
            <a:ext cx="3474720" cy="20574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8110727" y="1554480"/>
            <a:ext cx="64008" cy="2057400"/>
          </a:xfrm>
          <a:prstGeom prst="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17" name="Shape 17"/>
          <p:cNvSpPr txBox="1"/>
          <p:nvPr/>
        </p:nvSpPr>
        <p:spPr>
          <a:xfrm>
            <a:off x="8275319" y="1682495"/>
            <a:ext cx="316382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Visual ajuda komprende</a:t>
            </a:r>
            <a:endParaRPr lang="tet-TL" sz="1600"/>
          </a:p>
        </p:txBody>
      </p:sp>
      <p:sp>
        <p:nvSpPr>
          <p:cNvPr id="18" name="Shape 18"/>
          <p:cNvSpPr txBox="1"/>
          <p:nvPr/>
        </p:nvSpPr>
        <p:spPr>
          <a:xfrm>
            <a:off x="8275319" y="2057400"/>
            <a:ext cx="3163824" cy="145389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5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Dashboard transforma dadus iha tabela ba gráfiku, filtrajen no insight ne’ebé fasil atu lee.</a:t>
            </a:r>
            <a:endParaRPr lang="tet-TL" sz="1500"/>
          </a:p>
        </p:txBody>
      </p:sp>
      <p:sp>
        <p:nvSpPr>
          <p:cNvPr id="19" name="Shape 19"/>
          <p:cNvSpPr txBox="1"/>
          <p:nvPr/>
        </p:nvSpPr>
        <p:spPr>
          <a:xfrm>
            <a:off x="594360" y="3977639"/>
            <a:ext cx="10991088" cy="1554480"/>
          </a:xfrm>
          <a:prstGeom prst="roundRect">
            <a:avLst/>
          </a:prstGeom>
          <a:solidFill>
            <a:srgbClr val="20183E"/>
          </a:solidFill>
          <a:ln w="9525">
            <a:noFill/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868680" y="4224528"/>
            <a:ext cx="10424160" cy="45720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5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Kontekstu dadus projetu</a:t>
            </a:r>
            <a:endParaRPr lang="tet-TL" sz="1500"/>
          </a:p>
        </p:txBody>
      </p:sp>
      <p:sp>
        <p:nvSpPr>
          <p:cNvPr id="21" name="Shape 21"/>
          <p:cNvSpPr txBox="1"/>
          <p:nvPr/>
        </p:nvSpPr>
        <p:spPr>
          <a:xfrm>
            <a:off x="868680" y="4681728"/>
            <a:ext cx="10241280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Komentáriu kona-ba vídeo Timor-Leste  ·  3.352 komentáriu  ·  24 vídeo</a:t>
            </a:r>
            <a:endParaRPr lang="tet-TL" sz="2200"/>
          </a:p>
        </p:txBody>
      </p:sp>
      <p:sp>
        <p:nvSpPr>
          <p:cNvPr id="22" name="Shape 22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3" name="Shape 23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4" name="Shape 24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25" name="Shape 25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02</a:t>
            </a:r>
            <a:endParaRPr lang="tet-TL" sz="90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02 · PROBLEMA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Problema ne’ebé sistema hakarak responde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685800" y="1600200"/>
            <a:ext cx="10835640" cy="32004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302554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685800" y="1600200"/>
            <a:ext cx="91440" cy="3200400"/>
          </a:xfrm>
          <a:prstGeom prst="round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822959" y="1764792"/>
            <a:ext cx="713232" cy="6400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1682496" y="1719072"/>
            <a:ext cx="388620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11" name="Shape 11"/>
          <p:cNvSpPr txBox="1"/>
          <p:nvPr/>
        </p:nvSpPr>
        <p:spPr>
          <a:xfrm>
            <a:off x="1682496" y="2103120"/>
            <a:ext cx="3886200" cy="56692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914400" y="1905000"/>
            <a:ext cx="1036320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3" name="Shape 13"/>
          <p:cNvSpPr txBox="1"/>
          <p:nvPr/>
        </p:nvSpPr>
        <p:spPr>
          <a:xfrm>
            <a:off x="685800" y="1600200"/>
            <a:ext cx="91440" cy="3200400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4" name="Shape 14"/>
          <p:cNvSpPr txBox="1"/>
          <p:nvPr/>
        </p:nvSpPr>
        <p:spPr>
          <a:xfrm>
            <a:off x="6382512" y="1764792"/>
            <a:ext cx="713232" cy="6400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15" name="Shape 15"/>
          <p:cNvSpPr txBox="1"/>
          <p:nvPr/>
        </p:nvSpPr>
        <p:spPr>
          <a:xfrm>
            <a:off x="7242048" y="1719072"/>
            <a:ext cx="388620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16" name="Shape 16"/>
          <p:cNvSpPr txBox="1"/>
          <p:nvPr/>
        </p:nvSpPr>
        <p:spPr>
          <a:xfrm>
            <a:off x="7242048" y="2103120"/>
            <a:ext cx="3886200" cy="56692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/>
        </p:txBody>
      </p:sp>
      <p:sp>
        <p:nvSpPr>
          <p:cNvPr id="17" name="Shape 17"/>
          <p:cNvSpPr txBox="1"/>
          <p:nvPr/>
        </p:nvSpPr>
        <p:spPr>
          <a:xfrm>
            <a:off x="914400" y="1905000"/>
            <a:ext cx="1036320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8" name="Shape 18"/>
          <p:cNvSpPr txBox="1"/>
          <p:nvPr/>
        </p:nvSpPr>
        <p:spPr>
          <a:xfrm>
            <a:off x="685800" y="1600200"/>
            <a:ext cx="91440" cy="3200400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19" name="Shape 19"/>
          <p:cNvSpPr txBox="1"/>
          <p:nvPr/>
        </p:nvSpPr>
        <p:spPr>
          <a:xfrm>
            <a:off x="822959" y="3456432"/>
            <a:ext cx="713232" cy="6400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0" name="Shape 20"/>
          <p:cNvSpPr txBox="1"/>
          <p:nvPr/>
        </p:nvSpPr>
        <p:spPr>
          <a:xfrm>
            <a:off x="1682496" y="3410712"/>
            <a:ext cx="388620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1" name="Shape 21"/>
          <p:cNvSpPr txBox="1"/>
          <p:nvPr/>
        </p:nvSpPr>
        <p:spPr>
          <a:xfrm>
            <a:off x="1682496" y="3794760"/>
            <a:ext cx="3886200" cy="56692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/>
        </p:txBody>
      </p:sp>
      <p:sp>
        <p:nvSpPr>
          <p:cNvPr id="22" name="Shape 22"/>
          <p:cNvSpPr txBox="1"/>
          <p:nvPr/>
        </p:nvSpPr>
        <p:spPr>
          <a:xfrm>
            <a:off x="914400" y="1905000"/>
            <a:ext cx="1036320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3" name="Shape 23"/>
          <p:cNvSpPr txBox="1"/>
          <p:nvPr/>
        </p:nvSpPr>
        <p:spPr>
          <a:xfrm>
            <a:off x="685800" y="1600200"/>
            <a:ext cx="91440" cy="3200400"/>
          </a:xfrm>
          <a:prstGeom prst="roundRect">
            <a:avLst/>
          </a:prstGeom>
          <a:solidFill>
            <a:srgbClr val="4D8DFF"/>
          </a:solidFill>
          <a:ln w="9525">
            <a:noFill/>
          </a:ln>
        </p:spPr>
        <p:txBody>
          <a:bodyPr/>
          <a:p/>
        </p:txBody>
      </p:sp>
      <p:sp>
        <p:nvSpPr>
          <p:cNvPr id="24" name="Shape 24"/>
          <p:cNvSpPr txBox="1"/>
          <p:nvPr/>
        </p:nvSpPr>
        <p:spPr>
          <a:xfrm>
            <a:off x="6382512" y="3456432"/>
            <a:ext cx="713232" cy="6400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5" name="Shape 25"/>
          <p:cNvSpPr txBox="1"/>
          <p:nvPr/>
        </p:nvSpPr>
        <p:spPr>
          <a:xfrm>
            <a:off x="7242048" y="3410712"/>
            <a:ext cx="388620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6" name="Shape 26"/>
          <p:cNvSpPr txBox="1"/>
          <p:nvPr/>
        </p:nvSpPr>
        <p:spPr>
          <a:xfrm>
            <a:off x="7242048" y="3794760"/>
            <a:ext cx="3886200" cy="56692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/>
        </p:txBody>
      </p:sp>
      <p:sp>
        <p:nvSpPr>
          <p:cNvPr id="27" name="Shape 27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8" name="Shape 28"/>
          <p:cNvSpPr txBox="1"/>
          <p:nvPr/>
        </p:nvSpPr>
        <p:spPr>
          <a:xfrm>
            <a:off x="731520" y="5394960"/>
            <a:ext cx="10789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500" b="1">
                <a:solidFill>
                  <a:srgbClr val="28DDF5"/>
                </a:solidFill>
                <a:latin typeface="Aptos"/>
              </a:rPr>
              <a:t>REZULTADU: Insight klaru husi komentáriu barak.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30" name="Shape 30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03</a:t>
            </a:r>
            <a:endParaRPr lang="tet-TL" sz="900"/>
          </a:p>
        </p:txBody>
      </p:sp>
      <p:sp>
        <p:nvSpPr>
          <p:cNvPr id="31" name="TextBox 30"/>
          <p:cNvSpPr txBox="1"/>
          <p:nvPr/>
        </p:nvSpPr>
        <p:spPr>
          <a:xfrm>
            <a:off x="1143000" y="2468880"/>
            <a:ext cx="9692640" cy="1508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2700" b="0">
                <a:solidFill>
                  <a:srgbClr val="EAF3FF"/>
                </a:solidFill>
                <a:latin typeface="Aptos"/>
              </a:rPr>
              <a:t>Komentáriu TikTok barak no difisil atu analiza manualmente. Sistema ida ne’e ajuda atu komprende sentimentu, tópiku no engagement ho lalais.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1920240"/>
            <a:ext cx="9784080" cy="365760"/>
          </a:xfrm>
          <a:prstGeom prst="rect">
            <a:avLst/>
          </a:prstGeom>
          <a:noFill/>
        </p:spPr>
        <p:txBody>
          <a:bodyPr wrap="square" lIns="18288" tIns="18288" anchor="ctr" rIns="18288" bIns="18288">
            <a:spAutoFit/>
          </a:bodyPr>
          <a:lstStyle/>
          <a:p>
            <a:r>
              <a:rPr sz="1400" b="1">
                <a:solidFill>
                  <a:srgbClr val="28DDF5"/>
                </a:solidFill>
                <a:latin typeface="Aptos"/>
              </a:rPr>
              <a:t>PROBLEMA PRINSIPÁL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03 · OBJETIVU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Objetivu projetu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594360" y="3063240"/>
            <a:ext cx="2423160" cy="210312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302554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795528" y="3264408"/>
            <a:ext cx="2020824" cy="64008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795528" y="3502152"/>
            <a:ext cx="2020824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800" b="1">
                <a:solidFill>
                  <a:srgbClr val="28DDF5"/>
                </a:solidFill>
                <a:latin typeface="Aptos"/>
              </a:rPr>
              <a:t>01  Analiza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95528" y="4050791"/>
            <a:ext cx="2020824" cy="9601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500" b="0">
                <a:solidFill>
                  <a:srgbClr val="B8C5DF"/>
                </a:solidFill>
                <a:latin typeface="Aptos"/>
              </a:rPr>
              <a:t>Klasifika sentimentu ba komentáriu: pozitivu, neutru no negativu.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4672" y="4617720"/>
            <a:ext cx="475488" cy="47548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804672" y="4645152"/>
            <a:ext cx="475488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13" name="Shape 13"/>
          <p:cNvSpPr txBox="1"/>
          <p:nvPr/>
        </p:nvSpPr>
        <p:spPr>
          <a:xfrm>
            <a:off x="3456432" y="3063240"/>
            <a:ext cx="2423160" cy="210312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302554"/>
            </a:solidFill>
          </a:ln>
        </p:spPr>
        <p:txBody>
          <a:bodyPr/>
          <a:p/>
        </p:txBody>
      </p:sp>
      <p:sp>
        <p:nvSpPr>
          <p:cNvPr id="14" name="Shape 14"/>
          <p:cNvSpPr txBox="1"/>
          <p:nvPr/>
        </p:nvSpPr>
        <p:spPr>
          <a:xfrm>
            <a:off x="3657600" y="3264408"/>
            <a:ext cx="2020824" cy="64008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5" name="Shape 15"/>
          <p:cNvSpPr txBox="1"/>
          <p:nvPr/>
        </p:nvSpPr>
        <p:spPr>
          <a:xfrm>
            <a:off x="3657600" y="3502152"/>
            <a:ext cx="2020824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800" b="1">
                <a:solidFill>
                  <a:srgbClr val="FF4FD8"/>
                </a:solidFill>
                <a:latin typeface="Aptos"/>
              </a:rPr>
              <a:t>02  Explora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657600" y="4050791"/>
            <a:ext cx="2020824" cy="9601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500" b="0">
                <a:solidFill>
                  <a:srgbClr val="B8C5DF"/>
                </a:solidFill>
                <a:latin typeface="Aptos"/>
              </a:rPr>
              <a:t>Identifika tópiku, liafuan importante no padraun engagement.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621024" y="4617720"/>
            <a:ext cx="475488" cy="47548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18" name="Shape 18"/>
          <p:cNvSpPr txBox="1"/>
          <p:nvPr/>
        </p:nvSpPr>
        <p:spPr>
          <a:xfrm>
            <a:off x="3621024" y="4645152"/>
            <a:ext cx="475488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19" name="Shape 19"/>
          <p:cNvSpPr txBox="1"/>
          <p:nvPr/>
        </p:nvSpPr>
        <p:spPr>
          <a:xfrm>
            <a:off x="6318504" y="3063240"/>
            <a:ext cx="2423160" cy="210312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302554"/>
            </a:solidFill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6519672" y="3264408"/>
            <a:ext cx="2020824" cy="64008"/>
          </a:xfrm>
          <a:prstGeom prst="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21" name="Shape 21"/>
          <p:cNvSpPr txBox="1"/>
          <p:nvPr/>
        </p:nvSpPr>
        <p:spPr>
          <a:xfrm>
            <a:off x="6519672" y="3502152"/>
            <a:ext cx="2020824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800" b="1">
                <a:solidFill>
                  <a:srgbClr val="9B6BFF"/>
                </a:solidFill>
                <a:latin typeface="Aptos"/>
              </a:rPr>
              <a:t>03  Visualiza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19672" y="4050791"/>
            <a:ext cx="2020824" cy="9601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500" b="0">
                <a:solidFill>
                  <a:srgbClr val="B8C5DF"/>
                </a:solidFill>
                <a:latin typeface="Aptos"/>
              </a:rPr>
              <a:t>Apresenta rezultadu iha dashboard interativu, ho gráfiku no filtru.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437376" y="4617720"/>
            <a:ext cx="475488" cy="47548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4" name="Shape 24"/>
          <p:cNvSpPr txBox="1"/>
          <p:nvPr/>
        </p:nvSpPr>
        <p:spPr>
          <a:xfrm>
            <a:off x="6437376" y="4645152"/>
            <a:ext cx="475488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5" name="Shape 25"/>
          <p:cNvSpPr txBox="1"/>
          <p:nvPr/>
        </p:nvSpPr>
        <p:spPr>
          <a:xfrm>
            <a:off x="9180576" y="3063240"/>
            <a:ext cx="2423160" cy="210312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302554"/>
            </a:solidFill>
          </a:ln>
        </p:spPr>
        <p:txBody>
          <a:bodyPr/>
          <a:p/>
        </p:txBody>
      </p:sp>
      <p:sp>
        <p:nvSpPr>
          <p:cNvPr id="26" name="Shape 26"/>
          <p:cNvSpPr txBox="1"/>
          <p:nvPr/>
        </p:nvSpPr>
        <p:spPr>
          <a:xfrm>
            <a:off x="9381744" y="3264408"/>
            <a:ext cx="2020824" cy="64008"/>
          </a:xfrm>
          <a:prstGeom prst="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27" name="Shape 27"/>
          <p:cNvSpPr txBox="1"/>
          <p:nvPr/>
        </p:nvSpPr>
        <p:spPr>
          <a:xfrm>
            <a:off x="9381744" y="3502152"/>
            <a:ext cx="2020824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800" b="1">
                <a:solidFill>
                  <a:srgbClr val="32E6C5"/>
                </a:solidFill>
                <a:latin typeface="Aptos"/>
              </a:rPr>
              <a:t>04  Jere dadus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9381744" y="4050791"/>
            <a:ext cx="2020824" cy="9601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18288" bIns="18288"/>
          <a:lstStyle/>
          <a:p>
            <a:r>
              <a:rPr sz="1500" b="0">
                <a:solidFill>
                  <a:srgbClr val="B8C5DF"/>
                </a:solidFill>
                <a:latin typeface="Aptos"/>
              </a:rPr>
              <a:t>Jere asesu utilizadór, importa ficheiru no lista preprocessing.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9253728" y="4617720"/>
            <a:ext cx="475488" cy="47548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0" name="Shape 30"/>
          <p:cNvSpPr txBox="1"/>
          <p:nvPr/>
        </p:nvSpPr>
        <p:spPr>
          <a:xfrm>
            <a:off x="9253728" y="4645152"/>
            <a:ext cx="475488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31" name="Shape 31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2" name="Shape 32"/>
          <p:cNvSpPr txBox="1"/>
          <p:nvPr/>
        </p:nvSpPr>
        <p:spPr>
          <a:xfrm>
            <a:off x="731520" y="5394960"/>
            <a:ext cx="10789920" cy="438912"/>
          </a:xfrm>
          <a:prstGeom prst="rect">
            <a:avLst/>
          </a:prstGeom>
          <a:ln w="0">
            <a:noFill/>
          </a:ln>
        </p:spPr>
        <p:txBody>
          <a:bodyPr wrap="square" anchor="ctr" lIns="18288" rIns="18288" tIns="18288" bIns="18288"/>
          <a:lstStyle/>
          <a:p>
            <a:r>
              <a:rPr sz="1500" b="1">
                <a:solidFill>
                  <a:srgbClr val="28DDF5"/>
                </a:solidFill>
                <a:latin typeface="Aptos"/>
              </a:rPr>
              <a:t>OBJETIVU: Husi komentáriu → ba insight ne’ebé klaru.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34" name="Shape 34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04</a:t>
            </a:r>
            <a:endParaRPr lang="tet-TL" sz="900"/>
          </a:p>
        </p:txBody>
      </p:sp>
      <p:sp>
        <p:nvSpPr>
          <p:cNvPr id="35" name="Rectangle 34"/>
          <p:cNvSpPr/>
          <p:nvPr/>
        </p:nvSpPr>
        <p:spPr>
          <a:xfrm>
            <a:off x="685800" y="1417320"/>
            <a:ext cx="10835640" cy="1234440"/>
          </a:xfrm>
          <a:prstGeom prst="rect">
            <a:avLst/>
          </a:prstGeom>
          <a:solidFill>
            <a:srgbClr val="15102D"/>
          </a:solidFill>
          <a:ln>
            <a:solidFill>
              <a:srgbClr val="30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1417320"/>
            <a:ext cx="91440" cy="1234440"/>
          </a:xfrm>
          <a:prstGeom prst="rect">
            <a:avLst/>
          </a:prstGeom>
          <a:solidFill>
            <a:srgbClr val="28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1572768"/>
            <a:ext cx="1010412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r>
              <a:rPr sz="2100" b="0">
                <a:solidFill>
                  <a:srgbClr val="EAF3FF"/>
                </a:solidFill>
                <a:latin typeface="Aptos"/>
              </a:rPr>
              <a:t>Kria sistema ida atu analiza sentimentu, tópiku no engagement husi komentáriu TikTok, no hatudu rezultadu klaru liuhosi dashboard interativu.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04 · DADUS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Dadus no variável importante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658368" y="1481328"/>
            <a:ext cx="3401568" cy="1252728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841247" y="1627632"/>
            <a:ext cx="301752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30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3.352</a:t>
            </a:r>
            <a:endParaRPr lang="tet-TL" sz="3000"/>
          </a:p>
        </p:txBody>
      </p:sp>
      <p:sp>
        <p:nvSpPr>
          <p:cNvPr id="9" name="Shape 9"/>
          <p:cNvSpPr txBox="1"/>
          <p:nvPr/>
        </p:nvSpPr>
        <p:spPr>
          <a:xfrm>
            <a:off x="841247" y="2176272"/>
            <a:ext cx="3017520" cy="2743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3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Komentariu</a:t>
            </a:r>
            <a:endParaRPr lang="tet-TL" sz="1300"/>
          </a:p>
        </p:txBody>
      </p:sp>
      <p:sp>
        <p:nvSpPr>
          <p:cNvPr id="10" name="Shape 10"/>
          <p:cNvSpPr txBox="1"/>
          <p:nvPr/>
        </p:nvSpPr>
        <p:spPr>
          <a:xfrm>
            <a:off x="4361688" y="1481328"/>
            <a:ext cx="3401568" cy="1252728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1" name="Shape 11"/>
          <p:cNvSpPr txBox="1"/>
          <p:nvPr/>
        </p:nvSpPr>
        <p:spPr>
          <a:xfrm>
            <a:off x="4544568" y="1627632"/>
            <a:ext cx="301752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30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24</a:t>
            </a:r>
            <a:endParaRPr lang="tet-TL" sz="3000"/>
          </a:p>
        </p:txBody>
      </p:sp>
      <p:sp>
        <p:nvSpPr>
          <p:cNvPr id="12" name="Shape 12"/>
          <p:cNvSpPr txBox="1"/>
          <p:nvPr/>
        </p:nvSpPr>
        <p:spPr>
          <a:xfrm>
            <a:off x="4544568" y="2176272"/>
            <a:ext cx="3017520" cy="2743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3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Vídeo</a:t>
            </a:r>
            <a:endParaRPr lang="tet-TL" sz="1300"/>
          </a:p>
        </p:txBody>
      </p:sp>
      <p:sp>
        <p:nvSpPr>
          <p:cNvPr id="13" name="Shape 13"/>
          <p:cNvSpPr txBox="1"/>
          <p:nvPr/>
        </p:nvSpPr>
        <p:spPr>
          <a:xfrm>
            <a:off x="8065008" y="1481328"/>
            <a:ext cx="3401568" cy="1252728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4" name="Shape 14"/>
          <p:cNvSpPr txBox="1"/>
          <p:nvPr/>
        </p:nvSpPr>
        <p:spPr>
          <a:xfrm>
            <a:off x="8247888" y="1627632"/>
            <a:ext cx="301752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3000" dirty="0">
                <a:b/>
                <a:solidFill>
                  <a:srgbClr val="9B6BFF"/>
                </a:solidFill>
                <a:latin typeface="Aptos"/>
                <a:ea typeface="Aptos"/>
                <a:cs typeface="Aptos"/>
              </a:rPr>
              <a:t>2.485</a:t>
            </a:r>
            <a:endParaRPr lang="tet-TL" sz="3000"/>
          </a:p>
        </p:txBody>
      </p:sp>
      <p:sp>
        <p:nvSpPr>
          <p:cNvPr id="15" name="Shape 15"/>
          <p:cNvSpPr txBox="1"/>
          <p:nvPr/>
        </p:nvSpPr>
        <p:spPr>
          <a:xfrm>
            <a:off x="8247888" y="2176272"/>
            <a:ext cx="3017520" cy="2743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3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Utilizadór únika</a:t>
            </a:r>
            <a:endParaRPr lang="tet-TL" sz="1300"/>
          </a:p>
        </p:txBody>
      </p:sp>
      <p:sp>
        <p:nvSpPr>
          <p:cNvPr id="16" name="Shape 16"/>
          <p:cNvSpPr txBox="1"/>
          <p:nvPr/>
        </p:nvSpPr>
        <p:spPr>
          <a:xfrm>
            <a:off x="658368" y="3063240"/>
            <a:ext cx="5230368" cy="214884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7" name="Shape 17"/>
          <p:cNvSpPr txBox="1"/>
          <p:nvPr/>
        </p:nvSpPr>
        <p:spPr>
          <a:xfrm>
            <a:off x="658368" y="3063240"/>
            <a:ext cx="64008" cy="214884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18" name="Shape 18"/>
          <p:cNvSpPr txBox="1"/>
          <p:nvPr/>
        </p:nvSpPr>
        <p:spPr>
          <a:xfrm>
            <a:off x="822959" y="3191256"/>
            <a:ext cx="4919472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Koluna kontentu</a:t>
            </a:r>
            <a:endParaRPr lang="tet-TL" sz="1600"/>
          </a:p>
        </p:txBody>
      </p:sp>
      <p:sp>
        <p:nvSpPr>
          <p:cNvPr id="19" name="Shape 19"/>
          <p:cNvSpPr txBox="1"/>
          <p:nvPr/>
        </p:nvSpPr>
        <p:spPr>
          <a:xfrm>
            <a:off x="822959" y="3566160"/>
            <a:ext cx="4919472" cy="1545336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Komentáriu raw/moos · lian · sentimentu · tópiku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ID vídeo · data · komentáriu replies</a:t>
            </a:r>
            <a:endParaRPr lang="tet-TL" sz="1400"/>
          </a:p>
        </p:txBody>
      </p:sp>
      <p:sp>
        <p:nvSpPr>
          <p:cNvPr id="20" name="Shape 20"/>
          <p:cNvSpPr txBox="1"/>
          <p:nvPr/>
        </p:nvSpPr>
        <p:spPr>
          <a:xfrm>
            <a:off x="6144768" y="3063240"/>
            <a:ext cx="5230368" cy="214884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1" name="Shape 21"/>
          <p:cNvSpPr txBox="1"/>
          <p:nvPr/>
        </p:nvSpPr>
        <p:spPr>
          <a:xfrm>
            <a:off x="6144768" y="3063240"/>
            <a:ext cx="64008" cy="2148840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22" name="Shape 22"/>
          <p:cNvSpPr txBox="1"/>
          <p:nvPr/>
        </p:nvSpPr>
        <p:spPr>
          <a:xfrm>
            <a:off x="6309359" y="3191256"/>
            <a:ext cx="4919472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Koluna engagement</a:t>
            </a:r>
            <a:endParaRPr lang="tet-TL" sz="1600"/>
          </a:p>
        </p:txBody>
      </p:sp>
      <p:sp>
        <p:nvSpPr>
          <p:cNvPr id="23" name="Shape 23"/>
          <p:cNvSpPr txBox="1"/>
          <p:nvPr/>
        </p:nvSpPr>
        <p:spPr>
          <a:xfrm>
            <a:off x="6309359" y="3566160"/>
            <a:ext cx="4919472" cy="1545336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Likes · replies · naruk komentáriu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Data publikasaun no fonte vídeo</a:t>
            </a:r>
            <a:endParaRPr lang="tet-TL" sz="1400"/>
          </a:p>
        </p:txBody>
      </p:sp>
      <p:sp>
        <p:nvSpPr>
          <p:cNvPr id="24" name="Shape 24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5" name="Shape 25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6" name="Shape 26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27" name="Shape 27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05</a:t>
            </a:r>
            <a:endParaRPr lang="tet-TL" sz="900"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05 · PIPELINE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Pipeline: hosi dadus raw ba dashboard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429768" y="1901952"/>
            <a:ext cx="164592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941832" y="1508760"/>
            <a:ext cx="621792" cy="621792"/>
          </a:xfrm>
          <a:prstGeom prst="round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1078992" y="1554480"/>
            <a:ext cx="502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1</a:t>
            </a:r>
            <a:endParaRPr lang="tet-TL" sz="2000"/>
          </a:p>
        </p:txBody>
      </p:sp>
      <p:sp>
        <p:nvSpPr>
          <p:cNvPr id="10" name="Shape 10"/>
          <p:cNvSpPr txBox="1"/>
          <p:nvPr/>
        </p:nvSpPr>
        <p:spPr>
          <a:xfrm>
            <a:off x="658368" y="2286000"/>
            <a:ext cx="14173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Dadus raw</a:t>
            </a:r>
            <a:endParaRPr lang="tet-TL" sz="1600"/>
          </a:p>
        </p:txBody>
      </p:sp>
      <p:sp>
        <p:nvSpPr>
          <p:cNvPr id="11" name="Shape 11"/>
          <p:cNvSpPr txBox="1"/>
          <p:nvPr/>
        </p:nvSpPr>
        <p:spPr>
          <a:xfrm>
            <a:off x="658368" y="2816352"/>
            <a:ext cx="1417320" cy="65836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JSON / CSV</a:t>
            </a:r>
            <a:endParaRPr lang="tet-TL" sz="1200"/>
          </a:p>
        </p:txBody>
      </p:sp>
      <p:sp>
        <p:nvSpPr>
          <p:cNvPr id="12" name="Shape 12"/>
          <p:cNvSpPr txBox="1"/>
          <p:nvPr/>
        </p:nvSpPr>
        <p:spPr>
          <a:xfrm>
            <a:off x="2093976" y="2697480"/>
            <a:ext cx="27432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9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1900"/>
          </a:p>
        </p:txBody>
      </p:sp>
      <p:sp>
        <p:nvSpPr>
          <p:cNvPr id="13" name="Shape 13"/>
          <p:cNvSpPr txBox="1"/>
          <p:nvPr/>
        </p:nvSpPr>
        <p:spPr>
          <a:xfrm>
            <a:off x="2368296" y="1901952"/>
            <a:ext cx="164592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4" name="Shape 14"/>
          <p:cNvSpPr txBox="1"/>
          <p:nvPr/>
        </p:nvSpPr>
        <p:spPr>
          <a:xfrm>
            <a:off x="2880360" y="1508760"/>
            <a:ext cx="621792" cy="621792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5" name="Shape 15"/>
          <p:cNvSpPr txBox="1"/>
          <p:nvPr/>
        </p:nvSpPr>
        <p:spPr>
          <a:xfrm>
            <a:off x="3035808" y="1554480"/>
            <a:ext cx="502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2</a:t>
            </a:r>
            <a:endParaRPr lang="tet-TL" sz="2000"/>
          </a:p>
        </p:txBody>
      </p:sp>
      <p:sp>
        <p:nvSpPr>
          <p:cNvPr id="16" name="Shape 16"/>
          <p:cNvSpPr txBox="1"/>
          <p:nvPr/>
        </p:nvSpPr>
        <p:spPr>
          <a:xfrm>
            <a:off x="2615184" y="2286000"/>
            <a:ext cx="14173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Limpeza</a:t>
            </a:r>
            <a:endParaRPr lang="tet-TL" sz="1600"/>
          </a:p>
        </p:txBody>
      </p:sp>
      <p:sp>
        <p:nvSpPr>
          <p:cNvPr id="17" name="Shape 17"/>
          <p:cNvSpPr txBox="1"/>
          <p:nvPr/>
        </p:nvSpPr>
        <p:spPr>
          <a:xfrm>
            <a:off x="2615184" y="2816352"/>
            <a:ext cx="1417320" cy="65836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01_cleaning.py</a:t>
            </a:r>
            <a:endParaRPr lang="tet-TL" sz="1200"/>
          </a:p>
        </p:txBody>
      </p:sp>
      <p:sp>
        <p:nvSpPr>
          <p:cNvPr id="18" name="Shape 18"/>
          <p:cNvSpPr txBox="1"/>
          <p:nvPr/>
        </p:nvSpPr>
        <p:spPr>
          <a:xfrm>
            <a:off x="4032504" y="2697480"/>
            <a:ext cx="27432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9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1900"/>
          </a:p>
        </p:txBody>
      </p:sp>
      <p:sp>
        <p:nvSpPr>
          <p:cNvPr id="19" name="Shape 19"/>
          <p:cNvSpPr txBox="1"/>
          <p:nvPr/>
        </p:nvSpPr>
        <p:spPr>
          <a:xfrm>
            <a:off x="4306824" y="1901952"/>
            <a:ext cx="164592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4818888" y="1508760"/>
            <a:ext cx="621792" cy="621792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21" name="Shape 21"/>
          <p:cNvSpPr txBox="1"/>
          <p:nvPr/>
        </p:nvSpPr>
        <p:spPr>
          <a:xfrm>
            <a:off x="4992624" y="1554480"/>
            <a:ext cx="502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3</a:t>
            </a:r>
            <a:endParaRPr lang="tet-TL" sz="2000"/>
          </a:p>
        </p:txBody>
      </p:sp>
      <p:sp>
        <p:nvSpPr>
          <p:cNvPr id="22" name="Shape 22"/>
          <p:cNvSpPr txBox="1"/>
          <p:nvPr/>
        </p:nvSpPr>
        <p:spPr>
          <a:xfrm>
            <a:off x="4572000" y="2286000"/>
            <a:ext cx="14173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EDA</a:t>
            </a:r>
            <a:endParaRPr lang="tet-TL" sz="1600"/>
          </a:p>
        </p:txBody>
      </p:sp>
      <p:sp>
        <p:nvSpPr>
          <p:cNvPr id="23" name="Shape 23"/>
          <p:cNvSpPr txBox="1"/>
          <p:nvPr/>
        </p:nvSpPr>
        <p:spPr>
          <a:xfrm>
            <a:off x="4572000" y="2816352"/>
            <a:ext cx="1417320" cy="65836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02_eda.py</a:t>
            </a:r>
            <a:endParaRPr lang="tet-TL" sz="1200"/>
          </a:p>
        </p:txBody>
      </p:sp>
      <p:sp>
        <p:nvSpPr>
          <p:cNvPr id="24" name="Shape 24"/>
          <p:cNvSpPr txBox="1"/>
          <p:nvPr/>
        </p:nvSpPr>
        <p:spPr>
          <a:xfrm>
            <a:off x="5971032" y="2697480"/>
            <a:ext cx="27432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9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1900"/>
          </a:p>
        </p:txBody>
      </p:sp>
      <p:sp>
        <p:nvSpPr>
          <p:cNvPr id="25" name="Shape 25"/>
          <p:cNvSpPr txBox="1"/>
          <p:nvPr/>
        </p:nvSpPr>
        <p:spPr>
          <a:xfrm>
            <a:off x="6245352" y="1901952"/>
            <a:ext cx="164592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6" name="Shape 26"/>
          <p:cNvSpPr txBox="1"/>
          <p:nvPr/>
        </p:nvSpPr>
        <p:spPr>
          <a:xfrm>
            <a:off x="6757416" y="1508760"/>
            <a:ext cx="621792" cy="621792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27" name="Shape 27"/>
          <p:cNvSpPr txBox="1"/>
          <p:nvPr/>
        </p:nvSpPr>
        <p:spPr>
          <a:xfrm>
            <a:off x="6949440" y="1554480"/>
            <a:ext cx="502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4</a:t>
            </a:r>
            <a:endParaRPr lang="tet-TL" sz="2000"/>
          </a:p>
        </p:txBody>
      </p:sp>
      <p:sp>
        <p:nvSpPr>
          <p:cNvPr id="28" name="Shape 28"/>
          <p:cNvSpPr txBox="1"/>
          <p:nvPr/>
        </p:nvSpPr>
        <p:spPr>
          <a:xfrm>
            <a:off x="6528816" y="2286000"/>
            <a:ext cx="14173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Analiza</a:t>
            </a:r>
            <a:endParaRPr lang="tet-TL" sz="1600"/>
          </a:p>
        </p:txBody>
      </p:sp>
      <p:sp>
        <p:nvSpPr>
          <p:cNvPr id="29" name="Shape 29"/>
          <p:cNvSpPr txBox="1"/>
          <p:nvPr/>
        </p:nvSpPr>
        <p:spPr>
          <a:xfrm>
            <a:off x="6528816" y="2816352"/>
            <a:ext cx="1417320" cy="65836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Sentimentu · tópiku</a:t>
            </a:r>
            <a:endParaRPr lang="tet-TL" sz="1200"/>
          </a:p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engagement</a:t>
            </a:r>
            <a:endParaRPr lang="tet-TL" sz="1200"/>
          </a:p>
        </p:txBody>
      </p:sp>
      <p:sp>
        <p:nvSpPr>
          <p:cNvPr id="30" name="Shape 30"/>
          <p:cNvSpPr txBox="1"/>
          <p:nvPr/>
        </p:nvSpPr>
        <p:spPr>
          <a:xfrm>
            <a:off x="7909560" y="2697480"/>
            <a:ext cx="27432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9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1900"/>
          </a:p>
        </p:txBody>
      </p:sp>
      <p:sp>
        <p:nvSpPr>
          <p:cNvPr id="31" name="Shape 31"/>
          <p:cNvSpPr txBox="1"/>
          <p:nvPr/>
        </p:nvSpPr>
        <p:spPr>
          <a:xfrm>
            <a:off x="8183880" y="1901952"/>
            <a:ext cx="164592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32" name="Shape 32"/>
          <p:cNvSpPr txBox="1"/>
          <p:nvPr/>
        </p:nvSpPr>
        <p:spPr>
          <a:xfrm>
            <a:off x="8695944" y="1508760"/>
            <a:ext cx="621792" cy="621792"/>
          </a:xfrm>
          <a:prstGeom prst="roundRect">
            <a:avLst/>
          </a:prstGeom>
          <a:solidFill>
            <a:srgbClr val="4D8DFF"/>
          </a:solidFill>
          <a:ln w="9525">
            <a:noFill/>
          </a:ln>
        </p:spPr>
        <p:txBody>
          <a:bodyPr/>
          <a:p/>
        </p:txBody>
      </p:sp>
      <p:sp>
        <p:nvSpPr>
          <p:cNvPr id="33" name="Shape 33"/>
          <p:cNvSpPr txBox="1"/>
          <p:nvPr/>
        </p:nvSpPr>
        <p:spPr>
          <a:xfrm>
            <a:off x="8906256" y="1554480"/>
            <a:ext cx="502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5</a:t>
            </a:r>
            <a:endParaRPr lang="tet-TL" sz="2000"/>
          </a:p>
        </p:txBody>
      </p:sp>
      <p:sp>
        <p:nvSpPr>
          <p:cNvPr id="34" name="Shape 34"/>
          <p:cNvSpPr txBox="1"/>
          <p:nvPr/>
        </p:nvSpPr>
        <p:spPr>
          <a:xfrm>
            <a:off x="8485632" y="2286000"/>
            <a:ext cx="14173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Insight</a:t>
            </a:r>
            <a:endParaRPr lang="tet-TL" sz="1600"/>
          </a:p>
        </p:txBody>
      </p:sp>
      <p:sp>
        <p:nvSpPr>
          <p:cNvPr id="35" name="Shape 35"/>
          <p:cNvSpPr txBox="1"/>
          <p:nvPr/>
        </p:nvSpPr>
        <p:spPr>
          <a:xfrm>
            <a:off x="8485632" y="2816352"/>
            <a:ext cx="1417320" cy="65836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Gráfiku no</a:t>
            </a:r>
            <a:endParaRPr lang="tet-TL" sz="1200"/>
          </a:p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relatóriu</a:t>
            </a:r>
            <a:endParaRPr lang="tet-TL" sz="1200"/>
          </a:p>
        </p:txBody>
      </p:sp>
      <p:sp>
        <p:nvSpPr>
          <p:cNvPr id="36" name="Shape 36"/>
          <p:cNvSpPr txBox="1"/>
          <p:nvPr/>
        </p:nvSpPr>
        <p:spPr>
          <a:xfrm>
            <a:off x="9848088" y="2697480"/>
            <a:ext cx="27432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9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1900"/>
          </a:p>
        </p:txBody>
      </p:sp>
      <p:sp>
        <p:nvSpPr>
          <p:cNvPr id="37" name="Shape 37"/>
          <p:cNvSpPr txBox="1"/>
          <p:nvPr/>
        </p:nvSpPr>
        <p:spPr>
          <a:xfrm>
            <a:off x="10122408" y="1901952"/>
            <a:ext cx="1645920" cy="22860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38" name="Shape 38"/>
          <p:cNvSpPr txBox="1"/>
          <p:nvPr/>
        </p:nvSpPr>
        <p:spPr>
          <a:xfrm>
            <a:off x="10634472" y="1508760"/>
            <a:ext cx="621792" cy="621792"/>
          </a:xfrm>
          <a:prstGeom prst="roundRect">
            <a:avLst/>
          </a:prstGeom>
          <a:solidFill>
            <a:srgbClr val="20183E"/>
          </a:solidFill>
          <a:ln w="9525">
            <a:noFill/>
          </a:ln>
        </p:spPr>
        <p:txBody>
          <a:bodyPr/>
          <a:p/>
        </p:txBody>
      </p:sp>
      <p:sp>
        <p:nvSpPr>
          <p:cNvPr id="39" name="Shape 39"/>
          <p:cNvSpPr txBox="1"/>
          <p:nvPr/>
        </p:nvSpPr>
        <p:spPr>
          <a:xfrm>
            <a:off x="10863072" y="1554480"/>
            <a:ext cx="5029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0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6</a:t>
            </a:r>
            <a:endParaRPr lang="tet-TL" sz="2000"/>
          </a:p>
        </p:txBody>
      </p:sp>
      <p:sp>
        <p:nvSpPr>
          <p:cNvPr id="40" name="Shape 40"/>
          <p:cNvSpPr txBox="1"/>
          <p:nvPr/>
        </p:nvSpPr>
        <p:spPr>
          <a:xfrm>
            <a:off x="10442448" y="2286000"/>
            <a:ext cx="1417320" cy="4389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Dashboard</a:t>
            </a:r>
            <a:endParaRPr lang="tet-TL" sz="1600"/>
          </a:p>
        </p:txBody>
      </p:sp>
      <p:sp>
        <p:nvSpPr>
          <p:cNvPr id="41" name="Shape 41"/>
          <p:cNvSpPr txBox="1"/>
          <p:nvPr/>
        </p:nvSpPr>
        <p:spPr>
          <a:xfrm>
            <a:off x="10442448" y="2816352"/>
            <a:ext cx="1417320" cy="65836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Streamlit +</a:t>
            </a:r>
            <a:endParaRPr lang="tet-TL" sz="1200"/>
          </a:p>
          <a:p>
            <a:pPr algn="ctr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SQLite</a:t>
            </a:r>
            <a:endParaRPr lang="tet-TL" sz="1200"/>
          </a:p>
        </p:txBody>
      </p:sp>
      <p:sp>
        <p:nvSpPr>
          <p:cNvPr id="42" name="Shape 42"/>
          <p:cNvSpPr txBox="1"/>
          <p:nvPr/>
        </p:nvSpPr>
        <p:spPr>
          <a:xfrm>
            <a:off x="640080" y="4617720"/>
            <a:ext cx="10927080" cy="74980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43" name="Shape 43"/>
          <p:cNvSpPr txBox="1"/>
          <p:nvPr/>
        </p:nvSpPr>
        <p:spPr>
          <a:xfrm>
            <a:off x="868680" y="4754880"/>
            <a:ext cx="10424160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5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01 → 02 → 03 → 04 → 05 → 06 → 07 → 08_DATABASE → dashboard/app.py</a:t>
            </a:r>
            <a:endParaRPr lang="tet-TL" sz="1500"/>
          </a:p>
        </p:txBody>
      </p:sp>
      <p:sp>
        <p:nvSpPr>
          <p:cNvPr id="44" name="Shape 44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45" name="Shape 45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46" name="Shape 46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47" name="Shape 47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06</a:t>
            </a:r>
            <a:endParaRPr lang="tet-TL" sz="900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06 · MÉTODU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Métodu analítica iha sistema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621792" y="1554480"/>
            <a:ext cx="3520440" cy="356616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621792" y="1554480"/>
            <a:ext cx="64008" cy="356616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786384" y="1682495"/>
            <a:ext cx="320954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Sentimentu · VADER</a:t>
            </a:r>
            <a:endParaRPr lang="tet-TL" sz="1600"/>
          </a:p>
        </p:txBody>
      </p:sp>
      <p:sp>
        <p:nvSpPr>
          <p:cNvPr id="10" name="Shape 10"/>
          <p:cNvSpPr txBox="1"/>
          <p:nvPr/>
        </p:nvSpPr>
        <p:spPr>
          <a:xfrm>
            <a:off x="786384" y="2057400"/>
            <a:ext cx="3209544" cy="2962656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Skor compound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&gt;= 0,05 -&gt; Positive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&lt;= -0,05 -&gt; Negative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seluk -&gt; Neutral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/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Dicionáriu adisionál ba liafuan multilingue.</a:t>
            </a:r>
            <a:endParaRPr lang="tet-TL" sz="1400"/>
          </a:p>
        </p:txBody>
      </p:sp>
      <p:sp>
        <p:nvSpPr>
          <p:cNvPr id="11" name="Shape 11"/>
          <p:cNvSpPr txBox="1"/>
          <p:nvPr/>
        </p:nvSpPr>
        <p:spPr>
          <a:xfrm>
            <a:off x="4343400" y="1554480"/>
            <a:ext cx="3520440" cy="356616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4343400" y="1554480"/>
            <a:ext cx="64008" cy="3566160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3" name="Shape 13"/>
          <p:cNvSpPr txBox="1"/>
          <p:nvPr/>
        </p:nvSpPr>
        <p:spPr>
          <a:xfrm>
            <a:off x="4507992" y="1682495"/>
            <a:ext cx="320954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Tópiku · TF-IDF + NMF</a:t>
            </a:r>
            <a:endParaRPr lang="tet-TL" sz="1600"/>
          </a:p>
        </p:txBody>
      </p:sp>
      <p:sp>
        <p:nvSpPr>
          <p:cNvPr id="14" name="Shape 14"/>
          <p:cNvSpPr txBox="1"/>
          <p:nvPr/>
        </p:nvSpPr>
        <p:spPr>
          <a:xfrm>
            <a:off x="4507992" y="2057400"/>
            <a:ext cx="3209544" cy="2962656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TF-IDF fó todan ba liafuan importante. NMF agrupa komentáriu ne’ebé iha padraun liafuan hanesan.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/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Rezultadu tópiku mak esploratóriu, presiza interpreta keyword.</a:t>
            </a:r>
            <a:endParaRPr lang="tet-TL" sz="1400"/>
          </a:p>
        </p:txBody>
      </p:sp>
      <p:sp>
        <p:nvSpPr>
          <p:cNvPr id="15" name="Shape 15"/>
          <p:cNvSpPr txBox="1"/>
          <p:nvPr/>
        </p:nvSpPr>
        <p:spPr>
          <a:xfrm>
            <a:off x="8065008" y="1554480"/>
            <a:ext cx="3520440" cy="356616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8065008" y="1554480"/>
            <a:ext cx="64008" cy="3566160"/>
          </a:xfrm>
          <a:prstGeom prst="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17" name="Shape 17"/>
          <p:cNvSpPr txBox="1"/>
          <p:nvPr/>
        </p:nvSpPr>
        <p:spPr>
          <a:xfrm>
            <a:off x="8229600" y="1682495"/>
            <a:ext cx="320954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Engagement</a:t>
            </a:r>
            <a:endParaRPr lang="tet-TL" sz="1600"/>
          </a:p>
        </p:txBody>
      </p:sp>
      <p:sp>
        <p:nvSpPr>
          <p:cNvPr id="18" name="Shape 18"/>
          <p:cNvSpPr txBox="1"/>
          <p:nvPr/>
        </p:nvSpPr>
        <p:spPr>
          <a:xfrm>
            <a:off x="8229600" y="2057400"/>
            <a:ext cx="3209544" cy="2962656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Engagement komentariu = likes + replies.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/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Pearson no Spearman ajuda haree relasaun likes no replies.</a:t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/>
            </a:r>
            <a:endParaRPr lang="tet-TL" sz="1400"/>
          </a:p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Korelasaun la prova kauza.</a:t>
            </a:r>
            <a:endParaRPr lang="tet-TL" sz="1400"/>
          </a:p>
        </p:txBody>
      </p:sp>
      <p:sp>
        <p:nvSpPr>
          <p:cNvPr id="19" name="Shape 19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1" name="Shape 21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22" name="Shape 22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07</a:t>
            </a:r>
            <a:endParaRPr lang="tet-TL" sz="900"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07 · SISTEMA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Database no papel utilizadór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4069080" y="1993392"/>
            <a:ext cx="3977639" cy="2697480"/>
          </a:xfrm>
          <a:prstGeom prst="roundRect">
            <a:avLst/>
          </a:prstGeom>
          <a:solidFill>
            <a:srgbClr val="20183E"/>
          </a:solidFill>
          <a:ln w="9525">
            <a:noFill/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4370832" y="2286000"/>
            <a:ext cx="3383280" cy="38404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8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SQLite · tiktok_comments.db</a:t>
            </a:r>
            <a:endParaRPr lang="tet-TL" sz="1800"/>
          </a:p>
        </p:txBody>
      </p:sp>
      <p:sp>
        <p:nvSpPr>
          <p:cNvPr id="9" name="Shape 9"/>
          <p:cNvSpPr txBox="1"/>
          <p:nvPr/>
        </p:nvSpPr>
        <p:spPr>
          <a:xfrm>
            <a:off x="4434840" y="2852928"/>
            <a:ext cx="3200400" cy="137160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4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videos  ·  comments</a:t>
            </a:r>
            <a:endParaRPr lang="tet-TL" sz="1400"/>
          </a:p>
          <a:p>
            <a:pPr algn="ctr"/>
            <a:r>
              <a:rPr lang="tet-TL" sz="14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imports  ·  imported_comments</a:t>
            </a:r>
            <a:endParaRPr lang="tet-TL" sz="1400"/>
          </a:p>
          <a:p>
            <a:pPr algn="ctr"/>
            <a:r>
              <a:rPr lang="tet-TL" sz="14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stopwords  ·  wordlist  ·  tokenizen</a:t>
            </a:r>
            <a:endParaRPr lang="tet-TL" sz="1400"/>
          </a:p>
          <a:p>
            <a:pPr algn="ctr"/>
            <a:r>
              <a:rPr lang="tet-TL" sz="14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sentiment_annotations</a:t>
            </a:r>
            <a:endParaRPr lang="tet-TL" sz="1400"/>
          </a:p>
        </p:txBody>
      </p:sp>
      <p:sp>
        <p:nvSpPr>
          <p:cNvPr id="10" name="Shape 10"/>
          <p:cNvSpPr txBox="1"/>
          <p:nvPr/>
        </p:nvSpPr>
        <p:spPr>
          <a:xfrm>
            <a:off x="640080" y="1828800"/>
            <a:ext cx="2971800" cy="132588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1" name="Shape 11"/>
          <p:cNvSpPr txBox="1"/>
          <p:nvPr/>
        </p:nvSpPr>
        <p:spPr>
          <a:xfrm>
            <a:off x="640080" y="1828800"/>
            <a:ext cx="64008" cy="1325880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804671" y="1956816"/>
            <a:ext cx="266090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ADMIN</a:t>
            </a:r>
            <a:endParaRPr lang="tet-TL" sz="1600"/>
          </a:p>
        </p:txBody>
      </p:sp>
      <p:sp>
        <p:nvSpPr>
          <p:cNvPr id="13" name="Shape 13"/>
          <p:cNvSpPr txBox="1"/>
          <p:nvPr/>
        </p:nvSpPr>
        <p:spPr>
          <a:xfrm>
            <a:off x="804671" y="2331720"/>
            <a:ext cx="2660904" cy="72237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Jere akun, komentáriu, lista preprocessing no anotasaun.</a:t>
            </a:r>
            <a:endParaRPr lang="tet-TL" sz="1200"/>
          </a:p>
        </p:txBody>
      </p:sp>
      <p:sp>
        <p:nvSpPr>
          <p:cNvPr id="14" name="Shape 14"/>
          <p:cNvSpPr txBox="1"/>
          <p:nvPr/>
        </p:nvSpPr>
        <p:spPr>
          <a:xfrm>
            <a:off x="640080" y="3657600"/>
            <a:ext cx="2971800" cy="132588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5" name="Shape 15"/>
          <p:cNvSpPr txBox="1"/>
          <p:nvPr/>
        </p:nvSpPr>
        <p:spPr>
          <a:xfrm>
            <a:off x="640080" y="3657600"/>
            <a:ext cx="64008" cy="132588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804671" y="3785615"/>
            <a:ext cx="266090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USER</a:t>
            </a:r>
            <a:endParaRPr lang="tet-TL" sz="1600"/>
          </a:p>
        </p:txBody>
      </p:sp>
      <p:sp>
        <p:nvSpPr>
          <p:cNvPr id="17" name="Shape 17"/>
          <p:cNvSpPr txBox="1"/>
          <p:nvPr/>
        </p:nvSpPr>
        <p:spPr>
          <a:xfrm>
            <a:off x="804671" y="4160520"/>
            <a:ext cx="2660904" cy="72237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Login, importa ficheiru foun, haree dashboard no analiza.</a:t>
            </a:r>
            <a:endParaRPr lang="tet-TL" sz="1200"/>
          </a:p>
        </p:txBody>
      </p:sp>
      <p:sp>
        <p:nvSpPr>
          <p:cNvPr id="18" name="Shape 18"/>
          <p:cNvSpPr txBox="1"/>
          <p:nvPr/>
        </p:nvSpPr>
        <p:spPr>
          <a:xfrm>
            <a:off x="8503920" y="1828800"/>
            <a:ext cx="2971800" cy="132588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9" name="Shape 19"/>
          <p:cNvSpPr txBox="1"/>
          <p:nvPr/>
        </p:nvSpPr>
        <p:spPr>
          <a:xfrm>
            <a:off x="8503920" y="1828800"/>
            <a:ext cx="64008" cy="1325880"/>
          </a:xfrm>
          <a:prstGeom prst="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8668512" y="1956816"/>
            <a:ext cx="266090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UPLOAD</a:t>
            </a:r>
            <a:endParaRPr lang="tet-TL" sz="1600"/>
          </a:p>
        </p:txBody>
      </p:sp>
      <p:sp>
        <p:nvSpPr>
          <p:cNvPr id="21" name="Shape 21"/>
          <p:cNvSpPr txBox="1"/>
          <p:nvPr/>
        </p:nvSpPr>
        <p:spPr>
          <a:xfrm>
            <a:off x="8668512" y="2331720"/>
            <a:ext cx="2660904" cy="72237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CSV / JSON / XLSX → limpeza → token → sentimentu.</a:t>
            </a:r>
            <a:endParaRPr lang="tet-TL" sz="1200"/>
          </a:p>
        </p:txBody>
      </p:sp>
      <p:sp>
        <p:nvSpPr>
          <p:cNvPr id="22" name="Shape 22"/>
          <p:cNvSpPr txBox="1"/>
          <p:nvPr/>
        </p:nvSpPr>
        <p:spPr>
          <a:xfrm>
            <a:off x="8503920" y="3657600"/>
            <a:ext cx="2971800" cy="132588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3" name="Shape 23"/>
          <p:cNvSpPr txBox="1"/>
          <p:nvPr/>
        </p:nvSpPr>
        <p:spPr>
          <a:xfrm>
            <a:off x="8503920" y="3657600"/>
            <a:ext cx="64008" cy="1325880"/>
          </a:xfrm>
          <a:prstGeom prst="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24" name="Shape 24"/>
          <p:cNvSpPr txBox="1"/>
          <p:nvPr/>
        </p:nvSpPr>
        <p:spPr>
          <a:xfrm>
            <a:off x="8668512" y="3785615"/>
            <a:ext cx="266090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VISUAL</a:t>
            </a:r>
            <a:endParaRPr lang="tet-TL" sz="1600"/>
          </a:p>
        </p:txBody>
      </p:sp>
      <p:sp>
        <p:nvSpPr>
          <p:cNvPr id="25" name="Shape 25"/>
          <p:cNvSpPr txBox="1"/>
          <p:nvPr/>
        </p:nvSpPr>
        <p:spPr>
          <a:xfrm>
            <a:off x="8668512" y="4160520"/>
            <a:ext cx="2660904" cy="72237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Dashboard lee dadus hosi database no hatudu gráfiku.</a:t>
            </a:r>
            <a:endParaRPr lang="tet-TL" sz="1200"/>
          </a:p>
        </p:txBody>
      </p:sp>
      <p:sp>
        <p:nvSpPr>
          <p:cNvPr id="26" name="Shape 26"/>
          <p:cNvSpPr txBox="1"/>
          <p:nvPr/>
        </p:nvSpPr>
        <p:spPr>
          <a:xfrm>
            <a:off x="3611880" y="2423160"/>
            <a:ext cx="384048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4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2400"/>
          </a:p>
        </p:txBody>
      </p:sp>
      <p:sp>
        <p:nvSpPr>
          <p:cNvPr id="27" name="Shape 27"/>
          <p:cNvSpPr txBox="1"/>
          <p:nvPr/>
        </p:nvSpPr>
        <p:spPr>
          <a:xfrm>
            <a:off x="8092440" y="2423160"/>
            <a:ext cx="384048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400" dirty="0">
                <a:b/>
                <a:solidFill>
                  <a:srgbClr val="FF4FD8"/>
                </a:solidFill>
                <a:latin typeface="Aptos"/>
                <a:ea typeface="Aptos"/>
                <a:cs typeface="Aptos"/>
              </a:rPr>
              <a:t>→</a:t>
            </a:r>
            <a:endParaRPr lang="tet-TL" sz="2400"/>
          </a:p>
        </p:txBody>
      </p:sp>
      <p:sp>
        <p:nvSpPr>
          <p:cNvPr id="28" name="Shape 28"/>
          <p:cNvSpPr txBox="1"/>
          <p:nvPr/>
        </p:nvSpPr>
        <p:spPr>
          <a:xfrm>
            <a:off x="3611880" y="4069080"/>
            <a:ext cx="384048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4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→</a:t>
            </a:r>
            <a:endParaRPr lang="tet-TL" sz="2400"/>
          </a:p>
        </p:txBody>
      </p:sp>
      <p:sp>
        <p:nvSpPr>
          <p:cNvPr id="29" name="Shape 29"/>
          <p:cNvSpPr txBox="1"/>
          <p:nvPr/>
        </p:nvSpPr>
        <p:spPr>
          <a:xfrm>
            <a:off x="8092440" y="4069080"/>
            <a:ext cx="384048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24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→</a:t>
            </a:r>
            <a:endParaRPr lang="tet-TL" sz="2400"/>
          </a:p>
        </p:txBody>
      </p:sp>
      <p:sp>
        <p:nvSpPr>
          <p:cNvPr id="30" name="Shape 30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1" name="Shape 31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32" name="Shape 32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33" name="Shape 33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08</a:t>
            </a:r>
            <a:endParaRPr lang="tet-TL" sz="900"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08 · DASHBOARD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Menu no vizualizasaun dashboard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621792" y="1508760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768096" y="1673351"/>
            <a:ext cx="100584" cy="694944"/>
          </a:xfrm>
          <a:prstGeom prst="round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969264" y="164591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Painel</a:t>
            </a:r>
            <a:endParaRPr lang="tet-TL" sz="1400"/>
          </a:p>
        </p:txBody>
      </p:sp>
      <p:sp>
        <p:nvSpPr>
          <p:cNvPr id="10" name="Shape 10"/>
          <p:cNvSpPr txBox="1"/>
          <p:nvPr/>
        </p:nvSpPr>
        <p:spPr>
          <a:xfrm>
            <a:off x="969264" y="2011680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Rezumu no sentimentu</a:t>
            </a:r>
            <a:endParaRPr lang="tet-TL" sz="1100"/>
          </a:p>
        </p:txBody>
      </p:sp>
      <p:sp>
        <p:nvSpPr>
          <p:cNvPr id="11" name="Shape 11"/>
          <p:cNvSpPr txBox="1"/>
          <p:nvPr/>
        </p:nvSpPr>
        <p:spPr>
          <a:xfrm>
            <a:off x="3438144" y="1508760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3584448" y="1673351"/>
            <a:ext cx="100584" cy="694944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3" name="Shape 13"/>
          <p:cNvSpPr txBox="1"/>
          <p:nvPr/>
        </p:nvSpPr>
        <p:spPr>
          <a:xfrm>
            <a:off x="3785616" y="164591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Tendensia</a:t>
            </a:r>
            <a:endParaRPr lang="tet-TL" sz="1400"/>
          </a:p>
        </p:txBody>
      </p:sp>
      <p:sp>
        <p:nvSpPr>
          <p:cNvPr id="14" name="Shape 14"/>
          <p:cNvSpPr txBox="1"/>
          <p:nvPr/>
        </p:nvSpPr>
        <p:spPr>
          <a:xfrm>
            <a:off x="3785616" y="2011680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Fulan, loron, oras</a:t>
            </a:r>
            <a:endParaRPr lang="tet-TL" sz="1100"/>
          </a:p>
        </p:txBody>
      </p:sp>
      <p:sp>
        <p:nvSpPr>
          <p:cNvPr id="15" name="Shape 15"/>
          <p:cNvSpPr txBox="1"/>
          <p:nvPr/>
        </p:nvSpPr>
        <p:spPr>
          <a:xfrm>
            <a:off x="6254496" y="1508760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6400800" y="1673351"/>
            <a:ext cx="100584" cy="694944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17" name="Shape 17"/>
          <p:cNvSpPr txBox="1"/>
          <p:nvPr/>
        </p:nvSpPr>
        <p:spPr>
          <a:xfrm>
            <a:off x="6601968" y="164591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Sentimentu</a:t>
            </a:r>
            <a:endParaRPr lang="tet-TL" sz="1400"/>
          </a:p>
        </p:txBody>
      </p:sp>
      <p:sp>
        <p:nvSpPr>
          <p:cNvPr id="18" name="Shape 18"/>
          <p:cNvSpPr txBox="1"/>
          <p:nvPr/>
        </p:nvSpPr>
        <p:spPr>
          <a:xfrm>
            <a:off x="6601968" y="2011680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Klasifikasaun no komparasaun</a:t>
            </a:r>
            <a:endParaRPr lang="tet-TL" sz="1100"/>
          </a:p>
        </p:txBody>
      </p:sp>
      <p:sp>
        <p:nvSpPr>
          <p:cNvPr id="19" name="Shape 19"/>
          <p:cNvSpPr txBox="1"/>
          <p:nvPr/>
        </p:nvSpPr>
        <p:spPr>
          <a:xfrm>
            <a:off x="9070848" y="1508760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9217152" y="1673351"/>
            <a:ext cx="100584" cy="694944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21" name="Shape 21"/>
          <p:cNvSpPr txBox="1"/>
          <p:nvPr/>
        </p:nvSpPr>
        <p:spPr>
          <a:xfrm>
            <a:off x="9418320" y="164591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Topiku</a:t>
            </a:r>
            <a:endParaRPr lang="tet-TL" sz="1400"/>
          </a:p>
        </p:txBody>
      </p:sp>
      <p:sp>
        <p:nvSpPr>
          <p:cNvPr id="22" name="Shape 22"/>
          <p:cNvSpPr txBox="1"/>
          <p:nvPr/>
        </p:nvSpPr>
        <p:spPr>
          <a:xfrm>
            <a:off x="9418320" y="2011680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NMF + keyword</a:t>
            </a:r>
            <a:endParaRPr lang="tet-TL" sz="1100"/>
          </a:p>
        </p:txBody>
      </p:sp>
      <p:sp>
        <p:nvSpPr>
          <p:cNvPr id="23" name="Shape 23"/>
          <p:cNvSpPr txBox="1"/>
          <p:nvPr/>
        </p:nvSpPr>
        <p:spPr>
          <a:xfrm>
            <a:off x="621792" y="2834639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4" name="Shape 24"/>
          <p:cNvSpPr txBox="1"/>
          <p:nvPr/>
        </p:nvSpPr>
        <p:spPr>
          <a:xfrm>
            <a:off x="768096" y="2999232"/>
            <a:ext cx="100584" cy="694944"/>
          </a:xfrm>
          <a:prstGeom prst="round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25" name="Shape 25"/>
          <p:cNvSpPr txBox="1"/>
          <p:nvPr/>
        </p:nvSpPr>
        <p:spPr>
          <a:xfrm>
            <a:off x="969264" y="297179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Word Cloud</a:t>
            </a:r>
            <a:endParaRPr lang="tet-TL" sz="1400"/>
          </a:p>
        </p:txBody>
      </p:sp>
      <p:sp>
        <p:nvSpPr>
          <p:cNvPr id="26" name="Shape 26"/>
          <p:cNvSpPr txBox="1"/>
          <p:nvPr/>
        </p:nvSpPr>
        <p:spPr>
          <a:xfrm>
            <a:off x="969264" y="3337559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Liafuan frequente</a:t>
            </a:r>
            <a:endParaRPr lang="tet-TL" sz="1100"/>
          </a:p>
        </p:txBody>
      </p:sp>
      <p:sp>
        <p:nvSpPr>
          <p:cNvPr id="27" name="Shape 27"/>
          <p:cNvSpPr txBox="1"/>
          <p:nvPr/>
        </p:nvSpPr>
        <p:spPr>
          <a:xfrm>
            <a:off x="3438144" y="2834639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8" name="Shape 28"/>
          <p:cNvSpPr txBox="1"/>
          <p:nvPr/>
        </p:nvSpPr>
        <p:spPr>
          <a:xfrm>
            <a:off x="3584448" y="2999232"/>
            <a:ext cx="100584" cy="694944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29" name="Shape 29"/>
          <p:cNvSpPr txBox="1"/>
          <p:nvPr/>
        </p:nvSpPr>
        <p:spPr>
          <a:xfrm>
            <a:off x="3785616" y="297179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Komentáriu Popular</a:t>
            </a:r>
            <a:endParaRPr lang="tet-TL" sz="1400"/>
          </a:p>
        </p:txBody>
      </p:sp>
      <p:sp>
        <p:nvSpPr>
          <p:cNvPr id="30" name="Shape 30"/>
          <p:cNvSpPr txBox="1"/>
          <p:nvPr/>
        </p:nvSpPr>
        <p:spPr>
          <a:xfrm>
            <a:off x="3785616" y="3337559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Likes, replies, engagement</a:t>
            </a:r>
            <a:endParaRPr lang="tet-TL" sz="1100"/>
          </a:p>
        </p:txBody>
      </p:sp>
      <p:sp>
        <p:nvSpPr>
          <p:cNvPr id="31" name="Shape 31"/>
          <p:cNvSpPr txBox="1"/>
          <p:nvPr/>
        </p:nvSpPr>
        <p:spPr>
          <a:xfrm>
            <a:off x="6254496" y="2834639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32" name="Shape 32"/>
          <p:cNvSpPr txBox="1"/>
          <p:nvPr/>
        </p:nvSpPr>
        <p:spPr>
          <a:xfrm>
            <a:off x="6400800" y="2999232"/>
            <a:ext cx="100584" cy="694944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33" name="Shape 33"/>
          <p:cNvSpPr txBox="1"/>
          <p:nvPr/>
        </p:nvSpPr>
        <p:spPr>
          <a:xfrm>
            <a:off x="6601968" y="297179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Galeria Visual</a:t>
            </a:r>
            <a:endParaRPr lang="tet-TL" sz="1400"/>
          </a:p>
        </p:txBody>
      </p:sp>
      <p:sp>
        <p:nvSpPr>
          <p:cNvPr id="34" name="Shape 34"/>
          <p:cNvSpPr txBox="1"/>
          <p:nvPr/>
        </p:nvSpPr>
        <p:spPr>
          <a:xfrm>
            <a:off x="6601968" y="3337559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Heatmap, treemap, scatter</a:t>
            </a:r>
            <a:endParaRPr lang="tet-TL" sz="1100"/>
          </a:p>
        </p:txBody>
      </p:sp>
      <p:sp>
        <p:nvSpPr>
          <p:cNvPr id="35" name="Shape 35"/>
          <p:cNvSpPr txBox="1"/>
          <p:nvPr/>
        </p:nvSpPr>
        <p:spPr>
          <a:xfrm>
            <a:off x="9070848" y="2834639"/>
            <a:ext cx="2587752" cy="1042415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36" name="Shape 36"/>
          <p:cNvSpPr txBox="1"/>
          <p:nvPr/>
        </p:nvSpPr>
        <p:spPr>
          <a:xfrm>
            <a:off x="9217152" y="2999232"/>
            <a:ext cx="100584" cy="694944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37" name="Shape 37"/>
          <p:cNvSpPr txBox="1"/>
          <p:nvPr/>
        </p:nvSpPr>
        <p:spPr>
          <a:xfrm>
            <a:off x="9418320" y="2971799"/>
            <a:ext cx="205740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Baze Dadus</a:t>
            </a:r>
            <a:endParaRPr lang="tet-TL" sz="1400"/>
          </a:p>
        </p:txBody>
      </p:sp>
      <p:sp>
        <p:nvSpPr>
          <p:cNvPr id="38" name="Shape 38"/>
          <p:cNvSpPr txBox="1"/>
          <p:nvPr/>
        </p:nvSpPr>
        <p:spPr>
          <a:xfrm>
            <a:off x="9418320" y="3337559"/>
            <a:ext cx="2048256" cy="38404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1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Haree tabela SQLite</a:t>
            </a:r>
            <a:endParaRPr lang="tet-TL" sz="1100"/>
          </a:p>
        </p:txBody>
      </p:sp>
      <p:sp>
        <p:nvSpPr>
          <p:cNvPr id="39" name="Shape 39"/>
          <p:cNvSpPr txBox="1"/>
          <p:nvPr/>
        </p:nvSpPr>
        <p:spPr>
          <a:xfrm>
            <a:off x="658368" y="4434840"/>
            <a:ext cx="10954512" cy="1261872"/>
          </a:xfrm>
          <a:prstGeom prst="roundRect">
            <a:avLst/>
          </a:prstGeom>
          <a:solidFill>
            <a:srgbClr val="20183E"/>
          </a:solidFill>
          <a:ln w="9525">
            <a:noFill/>
          </a:ln>
        </p:spPr>
        <p:txBody>
          <a:bodyPr/>
          <a:p/>
        </p:txBody>
      </p:sp>
      <p:sp>
        <p:nvSpPr>
          <p:cNvPr id="40" name="Shape 40"/>
          <p:cNvSpPr txBox="1"/>
          <p:nvPr/>
        </p:nvSpPr>
        <p:spPr>
          <a:xfrm>
            <a:off x="914400" y="4590288"/>
            <a:ext cx="2011680" cy="29260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VISUAL INSIGHT</a:t>
            </a:r>
            <a:endParaRPr lang="tet-TL" sz="1200"/>
          </a:p>
        </p:txBody>
      </p:sp>
      <p:sp>
        <p:nvSpPr>
          <p:cNvPr id="41" name="Shape 41"/>
          <p:cNvSpPr txBox="1"/>
          <p:nvPr/>
        </p:nvSpPr>
        <p:spPr>
          <a:xfrm>
            <a:off x="3154680" y="4681728"/>
            <a:ext cx="128016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0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Pozitivu</a:t>
            </a:r>
            <a:endParaRPr lang="tet-TL" sz="1000"/>
          </a:p>
        </p:txBody>
      </p:sp>
      <p:sp>
        <p:nvSpPr>
          <p:cNvPr id="42" name="Shape 42"/>
          <p:cNvSpPr txBox="1"/>
          <p:nvPr/>
        </p:nvSpPr>
        <p:spPr>
          <a:xfrm>
            <a:off x="4462272" y="4700016"/>
            <a:ext cx="4297680" cy="146304"/>
          </a:xfrm>
          <a:prstGeom prst="roundRect">
            <a:avLst/>
          </a:prstGeom>
          <a:solidFill>
            <a:srgbClr val="302554"/>
          </a:solidFill>
          <a:ln w="9525">
            <a:noFill/>
          </a:ln>
        </p:spPr>
        <p:txBody>
          <a:bodyPr/>
          <a:p/>
        </p:txBody>
      </p:sp>
      <p:sp>
        <p:nvSpPr>
          <p:cNvPr id="43" name="Shape 43"/>
          <p:cNvSpPr txBox="1"/>
          <p:nvPr/>
        </p:nvSpPr>
        <p:spPr>
          <a:xfrm>
            <a:off x="4462272" y="4700016"/>
            <a:ext cx="3266236" cy="146304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44" name="Shape 44"/>
          <p:cNvSpPr txBox="1"/>
          <p:nvPr/>
        </p:nvSpPr>
        <p:spPr>
          <a:xfrm>
            <a:off x="3154680" y="4974336"/>
            <a:ext cx="128016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0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Neutru</a:t>
            </a:r>
            <a:endParaRPr lang="tet-TL" sz="1000"/>
          </a:p>
        </p:txBody>
      </p:sp>
      <p:sp>
        <p:nvSpPr>
          <p:cNvPr id="45" name="Shape 45"/>
          <p:cNvSpPr txBox="1"/>
          <p:nvPr/>
        </p:nvSpPr>
        <p:spPr>
          <a:xfrm>
            <a:off x="4462272" y="4992624"/>
            <a:ext cx="4297680" cy="146304"/>
          </a:xfrm>
          <a:prstGeom prst="roundRect">
            <a:avLst/>
          </a:prstGeom>
          <a:solidFill>
            <a:srgbClr val="302554"/>
          </a:solidFill>
          <a:ln w="9525">
            <a:noFill/>
          </a:ln>
        </p:spPr>
        <p:txBody>
          <a:bodyPr/>
          <a:p/>
        </p:txBody>
      </p:sp>
      <p:sp>
        <p:nvSpPr>
          <p:cNvPr id="46" name="Shape 46"/>
          <p:cNvSpPr txBox="1"/>
          <p:nvPr/>
        </p:nvSpPr>
        <p:spPr>
          <a:xfrm>
            <a:off x="4462272" y="4992624"/>
            <a:ext cx="2406700" cy="146304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47" name="Shape 47"/>
          <p:cNvSpPr txBox="1"/>
          <p:nvPr/>
        </p:nvSpPr>
        <p:spPr>
          <a:xfrm>
            <a:off x="3154680" y="5266944"/>
            <a:ext cx="128016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0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Negativu</a:t>
            </a:r>
            <a:endParaRPr lang="tet-TL" sz="1000"/>
          </a:p>
        </p:txBody>
      </p:sp>
      <p:sp>
        <p:nvSpPr>
          <p:cNvPr id="48" name="Shape 48"/>
          <p:cNvSpPr txBox="1"/>
          <p:nvPr/>
        </p:nvSpPr>
        <p:spPr>
          <a:xfrm>
            <a:off x="4462272" y="5285231"/>
            <a:ext cx="4297680" cy="146304"/>
          </a:xfrm>
          <a:prstGeom prst="roundRect">
            <a:avLst/>
          </a:prstGeom>
          <a:solidFill>
            <a:srgbClr val="302554"/>
          </a:solidFill>
          <a:ln w="9525">
            <a:noFill/>
          </a:ln>
        </p:spPr>
        <p:txBody>
          <a:bodyPr/>
          <a:p/>
        </p:txBody>
      </p:sp>
      <p:sp>
        <p:nvSpPr>
          <p:cNvPr id="49" name="Shape 49"/>
          <p:cNvSpPr txBox="1"/>
          <p:nvPr/>
        </p:nvSpPr>
        <p:spPr>
          <a:xfrm>
            <a:off x="4462272" y="5285231"/>
            <a:ext cx="945489" cy="146304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50" name="Shape 50"/>
          <p:cNvSpPr txBox="1"/>
          <p:nvPr/>
        </p:nvSpPr>
        <p:spPr>
          <a:xfrm>
            <a:off x="9144000" y="4709160"/>
            <a:ext cx="2011680" cy="5943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Gráfiku interativu</a:t>
            </a:r>
            <a:endParaRPr lang="tet-TL" sz="1600"/>
          </a:p>
          <a:p>
            <a:pPr algn="ctr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+ filtru vídeo</a:t>
            </a:r>
            <a:endParaRPr lang="tet-TL" sz="1600"/>
          </a:p>
        </p:txBody>
      </p:sp>
      <p:sp>
        <p:nvSpPr>
          <p:cNvPr id="51" name="Shape 51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52" name="Shape 52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53" name="Shape 53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54" name="Shape 54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09</a:t>
            </a:r>
            <a:endParaRPr lang="tet-TL" sz="900"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09 · INSIGHT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Ezemplu insight ne’ebé visual sira hatudu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594360" y="1536192"/>
            <a:ext cx="3529584" cy="1353312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594360" y="1536192"/>
            <a:ext cx="64008" cy="1353312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758952" y="1664207"/>
            <a:ext cx="3218688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1 · Sentimentu</a:t>
            </a:r>
            <a:endParaRPr lang="tet-TL" sz="1600"/>
          </a:p>
        </p:txBody>
      </p:sp>
      <p:sp>
        <p:nvSpPr>
          <p:cNvPr id="10" name="Shape 10"/>
          <p:cNvSpPr txBox="1"/>
          <p:nvPr/>
        </p:nvSpPr>
        <p:spPr>
          <a:xfrm>
            <a:off x="758952" y="2039112"/>
            <a:ext cx="3218688" cy="74980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Fahe Positive / Neutral / Negative no kompara tuir vídeo.</a:t>
            </a:r>
            <a:endParaRPr lang="tet-TL" sz="1200"/>
          </a:p>
        </p:txBody>
      </p:sp>
      <p:sp>
        <p:nvSpPr>
          <p:cNvPr id="11" name="Shape 11"/>
          <p:cNvSpPr txBox="1"/>
          <p:nvPr/>
        </p:nvSpPr>
        <p:spPr>
          <a:xfrm>
            <a:off x="4343400" y="1536192"/>
            <a:ext cx="3529584" cy="1353312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4343400" y="1536192"/>
            <a:ext cx="64008" cy="135331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3" name="Shape 13"/>
          <p:cNvSpPr txBox="1"/>
          <p:nvPr/>
        </p:nvSpPr>
        <p:spPr>
          <a:xfrm>
            <a:off x="4507992" y="1664207"/>
            <a:ext cx="3218688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2 · Tendênsia</a:t>
            </a:r>
            <a:endParaRPr lang="tet-TL" sz="1600"/>
          </a:p>
        </p:txBody>
      </p:sp>
      <p:sp>
        <p:nvSpPr>
          <p:cNvPr id="14" name="Shape 14"/>
          <p:cNvSpPr txBox="1"/>
          <p:nvPr/>
        </p:nvSpPr>
        <p:spPr>
          <a:xfrm>
            <a:off x="4507992" y="2039112"/>
            <a:ext cx="3218688" cy="74980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Volume kada fulan no mudansa proporsaun sentimentu.</a:t>
            </a:r>
            <a:endParaRPr lang="tet-TL" sz="1200"/>
          </a:p>
        </p:txBody>
      </p:sp>
      <p:sp>
        <p:nvSpPr>
          <p:cNvPr id="15" name="Shape 15"/>
          <p:cNvSpPr txBox="1"/>
          <p:nvPr/>
        </p:nvSpPr>
        <p:spPr>
          <a:xfrm>
            <a:off x="8092440" y="1536192"/>
            <a:ext cx="3529584" cy="1353312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8092440" y="1536192"/>
            <a:ext cx="64008" cy="1353312"/>
          </a:xfrm>
          <a:prstGeom prst="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17" name="Shape 17"/>
          <p:cNvSpPr txBox="1"/>
          <p:nvPr/>
        </p:nvSpPr>
        <p:spPr>
          <a:xfrm>
            <a:off x="8257031" y="1664207"/>
            <a:ext cx="3218688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3 · Engagement</a:t>
            </a:r>
            <a:endParaRPr lang="tet-TL" sz="1600"/>
          </a:p>
        </p:txBody>
      </p:sp>
      <p:sp>
        <p:nvSpPr>
          <p:cNvPr id="18" name="Shape 18"/>
          <p:cNvSpPr txBox="1"/>
          <p:nvPr/>
        </p:nvSpPr>
        <p:spPr>
          <a:xfrm>
            <a:off x="8257031" y="2039112"/>
            <a:ext cx="3218688" cy="749808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2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Haree se likes no replies muda hamutuk.</a:t>
            </a:r>
            <a:endParaRPr lang="tet-TL" sz="1200"/>
          </a:p>
        </p:txBody>
      </p:sp>
      <p:sp>
        <p:nvSpPr>
          <p:cNvPr id="19" name="Shape 19"/>
          <p:cNvSpPr txBox="1"/>
          <p:nvPr/>
        </p:nvSpPr>
        <p:spPr>
          <a:xfrm>
            <a:off x="685800" y="3182112"/>
            <a:ext cx="6766560" cy="233172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932688" y="3364992"/>
            <a:ext cx="621792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3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DISTRIBUISAUN SENTIMENTU · EZEMPLU VISUAL</a:t>
            </a:r>
            <a:endParaRPr lang="tet-TL" sz="1300"/>
          </a:p>
        </p:txBody>
      </p:sp>
      <p:sp>
        <p:nvSpPr>
          <p:cNvPr id="21" name="Shape 21"/>
          <p:cNvSpPr txBox="1"/>
          <p:nvPr/>
        </p:nvSpPr>
        <p:spPr>
          <a:xfrm>
            <a:off x="960120" y="3822191"/>
            <a:ext cx="5760720" cy="237744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Pozitivu</a:t>
            </a:r>
            <a:endParaRPr lang="tet-TL" sz="1200"/>
          </a:p>
        </p:txBody>
      </p:sp>
      <p:sp>
        <p:nvSpPr>
          <p:cNvPr id="22" name="Shape 22"/>
          <p:cNvSpPr txBox="1"/>
          <p:nvPr/>
        </p:nvSpPr>
        <p:spPr>
          <a:xfrm>
            <a:off x="960120" y="4133087"/>
            <a:ext cx="5760720" cy="20116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3" name="Shape 23"/>
          <p:cNvSpPr txBox="1"/>
          <p:nvPr/>
        </p:nvSpPr>
        <p:spPr>
          <a:xfrm>
            <a:off x="960120" y="4133087"/>
            <a:ext cx="4147718" cy="201168"/>
          </a:xfrm>
          <a:prstGeom prst="round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24" name="Shape 24"/>
          <p:cNvSpPr txBox="1"/>
          <p:nvPr/>
        </p:nvSpPr>
        <p:spPr>
          <a:xfrm>
            <a:off x="960120" y="4379976"/>
            <a:ext cx="576072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0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Komentáriu ne’ebé iha skor positivu</a:t>
            </a:r>
            <a:endParaRPr lang="tet-TL" sz="1000"/>
          </a:p>
        </p:txBody>
      </p:sp>
      <p:sp>
        <p:nvSpPr>
          <p:cNvPr id="25" name="Shape 25"/>
          <p:cNvSpPr txBox="1"/>
          <p:nvPr/>
        </p:nvSpPr>
        <p:spPr>
          <a:xfrm>
            <a:off x="960120" y="4498848"/>
            <a:ext cx="5760720" cy="237744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Neutru</a:t>
            </a:r>
            <a:endParaRPr lang="tet-TL" sz="1200"/>
          </a:p>
        </p:txBody>
      </p:sp>
      <p:sp>
        <p:nvSpPr>
          <p:cNvPr id="26" name="Shape 26"/>
          <p:cNvSpPr txBox="1"/>
          <p:nvPr/>
        </p:nvSpPr>
        <p:spPr>
          <a:xfrm>
            <a:off x="960120" y="4809744"/>
            <a:ext cx="5760720" cy="20116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7" name="Shape 27"/>
          <p:cNvSpPr txBox="1"/>
          <p:nvPr/>
        </p:nvSpPr>
        <p:spPr>
          <a:xfrm>
            <a:off x="960120" y="4809744"/>
            <a:ext cx="2880360" cy="201168"/>
          </a:xfrm>
          <a:prstGeom prst="roundRect">
            <a:avLst/>
          </a:prstGeom>
          <a:solidFill>
            <a:srgbClr val="9B6BFF"/>
          </a:solidFill>
          <a:ln w="9525">
            <a:noFill/>
          </a:ln>
        </p:spPr>
        <p:txBody>
          <a:bodyPr/>
          <a:p/>
        </p:txBody>
      </p:sp>
      <p:sp>
        <p:nvSpPr>
          <p:cNvPr id="28" name="Shape 28"/>
          <p:cNvSpPr txBox="1"/>
          <p:nvPr/>
        </p:nvSpPr>
        <p:spPr>
          <a:xfrm>
            <a:off x="960120" y="5056632"/>
            <a:ext cx="576072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0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Komentáriu la iha sinal klaru</a:t>
            </a:r>
            <a:endParaRPr lang="tet-TL" sz="1000"/>
          </a:p>
        </p:txBody>
      </p:sp>
      <p:sp>
        <p:nvSpPr>
          <p:cNvPr id="29" name="Shape 29"/>
          <p:cNvSpPr txBox="1"/>
          <p:nvPr/>
        </p:nvSpPr>
        <p:spPr>
          <a:xfrm>
            <a:off x="960120" y="5175504"/>
            <a:ext cx="5760720" cy="237744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2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Negativu</a:t>
            </a:r>
            <a:endParaRPr lang="tet-TL" sz="1200"/>
          </a:p>
        </p:txBody>
      </p:sp>
      <p:sp>
        <p:nvSpPr>
          <p:cNvPr id="30" name="Shape 30"/>
          <p:cNvSpPr txBox="1"/>
          <p:nvPr/>
        </p:nvSpPr>
        <p:spPr>
          <a:xfrm>
            <a:off x="960120" y="5486400"/>
            <a:ext cx="5760720" cy="201168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1" name="Shape 31"/>
          <p:cNvSpPr txBox="1"/>
          <p:nvPr/>
        </p:nvSpPr>
        <p:spPr>
          <a:xfrm>
            <a:off x="960120" y="5486400"/>
            <a:ext cx="1440180" cy="201168"/>
          </a:xfrm>
          <a:prstGeom prst="round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32" name="Shape 32"/>
          <p:cNvSpPr txBox="1"/>
          <p:nvPr/>
        </p:nvSpPr>
        <p:spPr>
          <a:xfrm>
            <a:off x="960120" y="5733288"/>
            <a:ext cx="5760720" cy="20116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0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Komentáriu ne’ebé iha skor negativu</a:t>
            </a:r>
            <a:endParaRPr lang="tet-TL" sz="1000"/>
          </a:p>
        </p:txBody>
      </p:sp>
      <p:sp>
        <p:nvSpPr>
          <p:cNvPr id="33" name="Shape 33"/>
          <p:cNvSpPr txBox="1"/>
          <p:nvPr/>
        </p:nvSpPr>
        <p:spPr>
          <a:xfrm>
            <a:off x="7754112" y="3182112"/>
            <a:ext cx="3657600" cy="233172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4" name="Shape 34"/>
          <p:cNvSpPr txBox="1"/>
          <p:nvPr/>
        </p:nvSpPr>
        <p:spPr>
          <a:xfrm>
            <a:off x="8046720" y="3502152"/>
            <a:ext cx="3090672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3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INTERPRETASAUN</a:t>
            </a:r>
            <a:endParaRPr lang="tet-TL" sz="1300"/>
          </a:p>
        </p:txBody>
      </p:sp>
      <p:sp>
        <p:nvSpPr>
          <p:cNvPr id="35" name="Shape 35"/>
          <p:cNvSpPr txBox="1"/>
          <p:nvPr/>
        </p:nvSpPr>
        <p:spPr>
          <a:xfrm>
            <a:off x="8028431" y="3977639"/>
            <a:ext cx="3108960" cy="114300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8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Gráfiku hatudu padraun.</a:t>
            </a:r>
            <a:endParaRPr lang="tet-TL" sz="1800"/>
          </a:p>
          <a:p>
            <a:pPr algn="ctr"/>
            <a:r>
              <a:rPr lang="tet-TL" sz="18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Investigadór mak interpreta</a:t>
            </a:r>
            <a:endParaRPr lang="tet-TL" sz="1800"/>
          </a:p>
          <a:p>
            <a:pPr algn="ctr"/>
            <a:r>
              <a:rPr lang="tet-TL" sz="18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ho kontektu dadus.</a:t>
            </a:r>
            <a:endParaRPr lang="tet-TL" sz="1800"/>
          </a:p>
        </p:txBody>
      </p:sp>
      <p:sp>
        <p:nvSpPr>
          <p:cNvPr id="36" name="Shape 36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7" name="Shape 37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38" name="Shape 38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39" name="Shape 39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10</a:t>
            </a:r>
            <a:endParaRPr lang="tet-TL" sz="900"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10 · EVALUATION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Evaluation: oinsá atu hatene kualidade?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3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CONFUSION MATRIX · RESULTADU ATUAL</a:t>
            </a:r>
            <a:endParaRPr lang="tet-TL" sz="1300"/>
          </a:p>
        </p:txBody>
      </p:sp>
      <p:sp>
        <p:nvSpPr>
          <p:cNvPr id="8" name="Shape 8"/>
          <p:cNvSpPr txBox="1"/>
          <p:nvPr/>
        </p:nvSpPr>
        <p:spPr>
          <a:xfrm>
            <a:off x="749808" y="1965960"/>
            <a:ext cx="685800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Label</a:t>
            </a:r>
            <a:endParaRPr lang="tet-TL" sz="1000"/>
          </a:p>
          <a:p>
            <a:pPr algn="ct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acuan</a:t>
            </a:r>
            <a:endParaRPr lang="tet-TL" sz="1000"/>
          </a:p>
        </p:txBody>
      </p:sp>
      <p:sp>
        <p:nvSpPr>
          <p:cNvPr id="9" name="Shape 9"/>
          <p:cNvSpPr txBox="1"/>
          <p:nvPr/>
        </p:nvSpPr>
        <p:spPr>
          <a:xfrm>
            <a:off x="1508760" y="1618488"/>
            <a:ext cx="1115568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Pozitivu</a:t>
            </a:r>
            <a:endParaRPr lang="tet-TL" sz="1000"/>
          </a:p>
        </p:txBody>
      </p:sp>
      <p:sp>
        <p:nvSpPr>
          <p:cNvPr id="10" name="Shape 10"/>
          <p:cNvSpPr txBox="1"/>
          <p:nvPr/>
        </p:nvSpPr>
        <p:spPr>
          <a:xfrm>
            <a:off x="2624328" y="1618488"/>
            <a:ext cx="1115568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Neutru</a:t>
            </a:r>
            <a:endParaRPr lang="tet-TL" sz="1000"/>
          </a:p>
        </p:txBody>
      </p:sp>
      <p:sp>
        <p:nvSpPr>
          <p:cNvPr id="11" name="Shape 11"/>
          <p:cNvSpPr txBox="1"/>
          <p:nvPr/>
        </p:nvSpPr>
        <p:spPr>
          <a:xfrm>
            <a:off x="3739896" y="1618488"/>
            <a:ext cx="1115568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Negativu</a:t>
            </a:r>
            <a:endParaRPr lang="tet-TL" sz="1000"/>
          </a:p>
        </p:txBody>
      </p:sp>
      <p:sp>
        <p:nvSpPr>
          <p:cNvPr id="12" name="Shape 12"/>
          <p:cNvSpPr txBox="1"/>
          <p:nvPr/>
        </p:nvSpPr>
        <p:spPr>
          <a:xfrm>
            <a:off x="685800" y="2011680"/>
            <a:ext cx="758952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Pozitivu</a:t>
            </a:r>
            <a:endParaRPr lang="tet-TL" sz="1000"/>
          </a:p>
        </p:txBody>
      </p:sp>
      <p:sp>
        <p:nvSpPr>
          <p:cNvPr id="13" name="Shape 13"/>
          <p:cNvSpPr txBox="1"/>
          <p:nvPr/>
        </p:nvSpPr>
        <p:spPr>
          <a:xfrm>
            <a:off x="1508760" y="2011680"/>
            <a:ext cx="1078992" cy="640080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14" name="Shape 14"/>
          <p:cNvSpPr txBox="1"/>
          <p:nvPr/>
        </p:nvSpPr>
        <p:spPr>
          <a:xfrm>
            <a:off x="1508760" y="20665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349</a:t>
            </a:r>
            <a:endParaRPr lang="tet-TL" sz="1700"/>
          </a:p>
        </p:txBody>
      </p:sp>
      <p:sp>
        <p:nvSpPr>
          <p:cNvPr id="15" name="Shape 15"/>
          <p:cNvSpPr txBox="1"/>
          <p:nvPr/>
        </p:nvSpPr>
        <p:spPr>
          <a:xfrm>
            <a:off x="2624328" y="2011680"/>
            <a:ext cx="1078992" cy="64008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16" name="Shape 16"/>
          <p:cNvSpPr txBox="1"/>
          <p:nvPr/>
        </p:nvSpPr>
        <p:spPr>
          <a:xfrm>
            <a:off x="2624328" y="20665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0</a:t>
            </a:r>
            <a:endParaRPr lang="tet-TL" sz="1700"/>
          </a:p>
        </p:txBody>
      </p:sp>
      <p:sp>
        <p:nvSpPr>
          <p:cNvPr id="17" name="Shape 17"/>
          <p:cNvSpPr txBox="1"/>
          <p:nvPr/>
        </p:nvSpPr>
        <p:spPr>
          <a:xfrm>
            <a:off x="3739896" y="2011680"/>
            <a:ext cx="1078992" cy="64008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18" name="Shape 18"/>
          <p:cNvSpPr txBox="1"/>
          <p:nvPr/>
        </p:nvSpPr>
        <p:spPr>
          <a:xfrm>
            <a:off x="3739896" y="20665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0</a:t>
            </a:r>
            <a:endParaRPr lang="tet-TL" sz="1700"/>
          </a:p>
        </p:txBody>
      </p:sp>
      <p:sp>
        <p:nvSpPr>
          <p:cNvPr id="19" name="Shape 19"/>
          <p:cNvSpPr txBox="1"/>
          <p:nvPr/>
        </p:nvSpPr>
        <p:spPr>
          <a:xfrm>
            <a:off x="685800" y="2697480"/>
            <a:ext cx="758952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Neutru</a:t>
            </a:r>
            <a:endParaRPr lang="tet-TL" sz="1000"/>
          </a:p>
        </p:txBody>
      </p:sp>
      <p:sp>
        <p:nvSpPr>
          <p:cNvPr id="20" name="Shape 20"/>
          <p:cNvSpPr txBox="1"/>
          <p:nvPr/>
        </p:nvSpPr>
        <p:spPr>
          <a:xfrm>
            <a:off x="1508760" y="2697480"/>
            <a:ext cx="1078992" cy="64008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1" name="Shape 21"/>
          <p:cNvSpPr txBox="1"/>
          <p:nvPr/>
        </p:nvSpPr>
        <p:spPr>
          <a:xfrm>
            <a:off x="1508760" y="27523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2</a:t>
            </a:r>
            <a:endParaRPr lang="tet-TL" sz="1700"/>
          </a:p>
        </p:txBody>
      </p:sp>
      <p:sp>
        <p:nvSpPr>
          <p:cNvPr id="22" name="Shape 22"/>
          <p:cNvSpPr txBox="1"/>
          <p:nvPr/>
        </p:nvSpPr>
        <p:spPr>
          <a:xfrm>
            <a:off x="2624328" y="2697480"/>
            <a:ext cx="1078992" cy="640080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23" name="Shape 23"/>
          <p:cNvSpPr txBox="1"/>
          <p:nvPr/>
        </p:nvSpPr>
        <p:spPr>
          <a:xfrm>
            <a:off x="2624328" y="27523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339</a:t>
            </a:r>
            <a:endParaRPr lang="tet-TL" sz="1700"/>
          </a:p>
        </p:txBody>
      </p:sp>
      <p:sp>
        <p:nvSpPr>
          <p:cNvPr id="24" name="Shape 24"/>
          <p:cNvSpPr txBox="1"/>
          <p:nvPr/>
        </p:nvSpPr>
        <p:spPr>
          <a:xfrm>
            <a:off x="3739896" y="2697480"/>
            <a:ext cx="1078992" cy="64008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5" name="Shape 25"/>
          <p:cNvSpPr txBox="1"/>
          <p:nvPr/>
        </p:nvSpPr>
        <p:spPr>
          <a:xfrm>
            <a:off x="3739896" y="27523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0</a:t>
            </a:r>
            <a:endParaRPr lang="tet-TL" sz="1700"/>
          </a:p>
        </p:txBody>
      </p:sp>
      <p:sp>
        <p:nvSpPr>
          <p:cNvPr id="26" name="Shape 26"/>
          <p:cNvSpPr txBox="1"/>
          <p:nvPr/>
        </p:nvSpPr>
        <p:spPr>
          <a:xfrm>
            <a:off x="685800" y="3383280"/>
            <a:ext cx="758952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10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Negativu</a:t>
            </a:r>
            <a:endParaRPr lang="tet-TL" sz="1000"/>
          </a:p>
        </p:txBody>
      </p:sp>
      <p:sp>
        <p:nvSpPr>
          <p:cNvPr id="27" name="Shape 27"/>
          <p:cNvSpPr txBox="1"/>
          <p:nvPr/>
        </p:nvSpPr>
        <p:spPr>
          <a:xfrm>
            <a:off x="1508760" y="3383280"/>
            <a:ext cx="1078992" cy="64008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8" name="Shape 28"/>
          <p:cNvSpPr txBox="1"/>
          <p:nvPr/>
        </p:nvSpPr>
        <p:spPr>
          <a:xfrm>
            <a:off x="1508760" y="34381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0</a:t>
            </a:r>
            <a:endParaRPr lang="tet-TL" sz="1700"/>
          </a:p>
        </p:txBody>
      </p:sp>
      <p:sp>
        <p:nvSpPr>
          <p:cNvPr id="29" name="Shape 29"/>
          <p:cNvSpPr txBox="1"/>
          <p:nvPr/>
        </p:nvSpPr>
        <p:spPr>
          <a:xfrm>
            <a:off x="2624328" y="3383280"/>
            <a:ext cx="1078992" cy="64008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0" name="Shape 30"/>
          <p:cNvSpPr txBox="1"/>
          <p:nvPr/>
        </p:nvSpPr>
        <p:spPr>
          <a:xfrm>
            <a:off x="2624328" y="34381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0</a:t>
            </a:r>
            <a:endParaRPr lang="tet-TL" sz="1700"/>
          </a:p>
        </p:txBody>
      </p:sp>
      <p:sp>
        <p:nvSpPr>
          <p:cNvPr id="31" name="Shape 31"/>
          <p:cNvSpPr txBox="1"/>
          <p:nvPr/>
        </p:nvSpPr>
        <p:spPr>
          <a:xfrm>
            <a:off x="3739896" y="3383280"/>
            <a:ext cx="1078992" cy="640080"/>
          </a:xfrm>
          <a:prstGeom prst="roundRect">
            <a:avLst/>
          </a:prstGeom>
          <a:solidFill>
            <a:srgbClr val="32E6C5"/>
          </a:solidFill>
          <a:ln w="9525">
            <a:noFill/>
          </a:ln>
        </p:spPr>
        <p:txBody>
          <a:bodyPr/>
          <a:p/>
        </p:txBody>
      </p:sp>
      <p:sp>
        <p:nvSpPr>
          <p:cNvPr id="32" name="Shape 32"/>
          <p:cNvSpPr txBox="1"/>
          <p:nvPr/>
        </p:nvSpPr>
        <p:spPr>
          <a:xfrm>
            <a:off x="3739896" y="3438144"/>
            <a:ext cx="1078992" cy="5486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60</a:t>
            </a:r>
            <a:endParaRPr lang="tet-TL" sz="1700"/>
          </a:p>
        </p:txBody>
      </p:sp>
      <p:sp>
        <p:nvSpPr>
          <p:cNvPr id="33" name="Shape 33"/>
          <p:cNvSpPr txBox="1"/>
          <p:nvPr/>
        </p:nvSpPr>
        <p:spPr>
          <a:xfrm>
            <a:off x="5897880" y="1600200"/>
            <a:ext cx="5440680" cy="224028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34" name="Shape 34"/>
          <p:cNvSpPr txBox="1"/>
          <p:nvPr/>
        </p:nvSpPr>
        <p:spPr>
          <a:xfrm>
            <a:off x="6217920" y="1847088"/>
            <a:ext cx="4754880" cy="3657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KOMPARASAUN IHA TEST</a:t>
            </a:r>
            <a:endParaRPr lang="tet-TL" sz="1400"/>
          </a:p>
        </p:txBody>
      </p:sp>
      <p:sp>
        <p:nvSpPr>
          <p:cNvPr id="35" name="Shape 35"/>
          <p:cNvSpPr txBox="1"/>
          <p:nvPr/>
        </p:nvSpPr>
        <p:spPr>
          <a:xfrm>
            <a:off x="6217920" y="2304288"/>
            <a:ext cx="4754880" cy="5943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34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99,73%</a:t>
            </a:r>
            <a:endParaRPr lang="tet-TL" sz="3400"/>
          </a:p>
        </p:txBody>
      </p:sp>
      <p:sp>
        <p:nvSpPr>
          <p:cNvPr id="36" name="Shape 36"/>
          <p:cNvSpPr txBox="1"/>
          <p:nvPr/>
        </p:nvSpPr>
        <p:spPr>
          <a:xfrm>
            <a:off x="6217920" y="2990088"/>
            <a:ext cx="4754880" cy="329184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Accuracy atual · 750 komentáriu test</a:t>
            </a:r>
            <a:endParaRPr lang="tet-TL" sz="1400"/>
          </a:p>
        </p:txBody>
      </p:sp>
      <p:sp>
        <p:nvSpPr>
          <p:cNvPr id="37" name="Shape 37"/>
          <p:cNvSpPr txBox="1"/>
          <p:nvPr/>
        </p:nvSpPr>
        <p:spPr>
          <a:xfrm>
            <a:off x="658368" y="4572000"/>
            <a:ext cx="10698480" cy="960120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38" name="Shape 38"/>
          <p:cNvSpPr txBox="1"/>
          <p:nvPr/>
        </p:nvSpPr>
        <p:spPr>
          <a:xfrm>
            <a:off x="914400" y="4736592"/>
            <a:ext cx="10149840" cy="59436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500" dirty="0">
                <a:b/>
                <a:solidFill>
                  <a:srgbClr val="FF628C"/>
                </a:solidFill>
                <a:latin typeface="Aptos"/>
                <a:ea typeface="Aptos"/>
                <a:cs typeface="Aptos"/>
              </a:rPr>
              <a:t>ATENSAUN: label inisiál barak mai hosi predisaun VADER rasik. Nune’e accuracy nee seidauk independente no la bele relata hanesan rezultadu final.</a:t>
            </a:r>
            <a:endParaRPr lang="tet-TL" sz="1500"/>
          </a:p>
        </p:txBody>
      </p:sp>
      <p:sp>
        <p:nvSpPr>
          <p:cNvPr id="39" name="Shape 39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40" name="Shape 40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41" name="Shape 41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42" name="Shape 42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11</a:t>
            </a:r>
            <a:endParaRPr lang="tet-TL" sz="900"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51B"/>
          </a:solidFill>
          <a:ln w="9525">
            <a:noFill/>
          </a:ln>
        </p:spPr>
        <p:txBody>
          <a:bodyPr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4" name="Shape 4"/>
          <p:cNvSpPr txBox="1"/>
          <p:nvPr/>
        </p:nvSpPr>
        <p:spPr>
          <a:xfrm>
            <a:off x="530352" y="310896"/>
            <a:ext cx="11064240" cy="246888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100" dirty="0" b="1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11 · KONKLUZAUN</a:t>
            </a:r>
            <a:endParaRPr lang="tet-TL" sz="900"/>
          </a:p>
        </p:txBody>
      </p:sp>
      <p:sp>
        <p:nvSpPr>
          <p:cNvPr id="5" name="Shape 5"/>
          <p:cNvSpPr txBox="1"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2900" dirty="0" b="1">
                <a:b/>
                <a:solidFill>
                  <a:srgbClr val="EAF3FF"/>
                </a:solidFill>
                <a:latin typeface="Aptos Display"/>
                <a:ea typeface="Aptos"/>
                <a:cs typeface="Aptos"/>
              </a:rPr>
              <a:t>Konkluzaun no etapa tuirmai</a:t>
            </a:r>
            <a:endParaRPr lang="tet-TL" sz="2700"/>
          </a:p>
        </p:txBody>
      </p:sp>
      <p:sp>
        <p:nvSpPr>
          <p:cNvPr id="6" name="Shape 6"/>
          <p:cNvSpPr txBox="1"/>
          <p:nvPr/>
        </p:nvSpPr>
        <p:spPr>
          <a:xfrm>
            <a:off x="530352" y="1197864"/>
            <a:ext cx="594360" cy="50292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7" name="Shape 7"/>
          <p:cNvSpPr txBox="1"/>
          <p:nvPr/>
        </p:nvSpPr>
        <p:spPr>
          <a:xfrm>
            <a:off x="640080" y="1572768"/>
            <a:ext cx="5257800" cy="18288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8" name="Shape 8"/>
          <p:cNvSpPr txBox="1"/>
          <p:nvPr/>
        </p:nvSpPr>
        <p:spPr>
          <a:xfrm>
            <a:off x="640080" y="1572768"/>
            <a:ext cx="64008" cy="1828800"/>
          </a:xfrm>
          <a:prstGeom prst="rect">
            <a:avLst/>
          </a:prstGeom>
          <a:solidFill>
            <a:srgbClr val="28DDF5"/>
          </a:solidFill>
          <a:ln w="9525">
            <a:noFill/>
          </a:ln>
        </p:spPr>
        <p:txBody>
          <a:bodyPr/>
          <a:p/>
        </p:txBody>
      </p:sp>
      <p:sp>
        <p:nvSpPr>
          <p:cNvPr id="9" name="Shape 9"/>
          <p:cNvSpPr txBox="1"/>
          <p:nvPr/>
        </p:nvSpPr>
        <p:spPr>
          <a:xfrm>
            <a:off x="804671" y="1700784"/>
            <a:ext cx="494690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Saida mak sistema halo</a:t>
            </a:r>
            <a:endParaRPr lang="tet-TL" sz="1600"/>
          </a:p>
        </p:txBody>
      </p:sp>
      <p:sp>
        <p:nvSpPr>
          <p:cNvPr id="10" name="Shape 10"/>
          <p:cNvSpPr txBox="1"/>
          <p:nvPr/>
        </p:nvSpPr>
        <p:spPr>
          <a:xfrm>
            <a:off x="804671" y="2075688"/>
            <a:ext cx="4946904" cy="122529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Integra importasaun, prosesamentu, database, analítica no dashboard vizuál.</a:t>
            </a:r>
            <a:endParaRPr lang="tet-TL" sz="1400"/>
          </a:p>
        </p:txBody>
      </p:sp>
      <p:sp>
        <p:nvSpPr>
          <p:cNvPr id="11" name="Shape 11"/>
          <p:cNvSpPr txBox="1"/>
          <p:nvPr/>
        </p:nvSpPr>
        <p:spPr>
          <a:xfrm>
            <a:off x="6172200" y="1572768"/>
            <a:ext cx="5257800" cy="1828800"/>
          </a:xfrm>
          <a:prstGeom prst="roundRect">
            <a:avLst/>
          </a:prstGeom>
          <a:solidFill>
            <a:srgbClr val="15102D"/>
          </a:solidFill>
          <a:ln w="9525">
            <a:solidFill>
              <a:srgbClr val="E6EEE5"/>
            </a:solidFill>
          </a:ln>
        </p:spPr>
        <p:txBody>
          <a:bodyPr/>
          <a:p/>
        </p:txBody>
      </p:sp>
      <p:sp>
        <p:nvSpPr>
          <p:cNvPr id="12" name="Shape 12"/>
          <p:cNvSpPr txBox="1"/>
          <p:nvPr/>
        </p:nvSpPr>
        <p:spPr>
          <a:xfrm>
            <a:off x="6172200" y="1572768"/>
            <a:ext cx="64008" cy="1828800"/>
          </a:xfrm>
          <a:prstGeom prst="rect">
            <a:avLst/>
          </a:prstGeom>
          <a:solidFill>
            <a:srgbClr val="FF4FD8"/>
          </a:solidFill>
          <a:ln w="9525">
            <a:noFill/>
          </a:ln>
        </p:spPr>
        <p:txBody>
          <a:bodyPr/>
          <a:p/>
        </p:txBody>
      </p:sp>
      <p:sp>
        <p:nvSpPr>
          <p:cNvPr id="13" name="Shape 13"/>
          <p:cNvSpPr txBox="1"/>
          <p:nvPr/>
        </p:nvSpPr>
        <p:spPr>
          <a:xfrm>
            <a:off x="6336792" y="1700784"/>
            <a:ext cx="4946904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6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Valor ba utilizador</a:t>
            </a:r>
            <a:endParaRPr lang="tet-TL" sz="1600"/>
          </a:p>
        </p:txBody>
      </p:sp>
      <p:sp>
        <p:nvSpPr>
          <p:cNvPr id="14" name="Shape 14"/>
          <p:cNvSpPr txBox="1"/>
          <p:nvPr/>
        </p:nvSpPr>
        <p:spPr>
          <a:xfrm>
            <a:off x="6336792" y="2075688"/>
            <a:ext cx="4946904" cy="1225295"/>
          </a:xfrm>
          <a:prstGeom prst="rect">
            <a:avLst/>
          </a:prstGeom>
          <a:ln w="0"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tet-TL" sz="1400" dirty="0">
                <a:solidFill>
                  <a:srgbClr val="A7B4D0"/>
                </a:solidFill>
                <a:latin typeface="Aptos"/>
                <a:ea typeface="Aptos"/>
                <a:cs typeface="Aptos"/>
              </a:rPr>
              <a:t>Ajuda haree sentimento, tópiku, tendênsia no engagement ho interasaun menus.</a:t>
            </a:r>
            <a:endParaRPr lang="tet-TL" sz="1400"/>
          </a:p>
        </p:txBody>
      </p:sp>
      <p:sp>
        <p:nvSpPr>
          <p:cNvPr id="15" name="Shape 15"/>
          <p:cNvSpPr txBox="1"/>
          <p:nvPr/>
        </p:nvSpPr>
        <p:spPr>
          <a:xfrm>
            <a:off x="804672" y="3794760"/>
            <a:ext cx="4754880" cy="34747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3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ETAPA TUirmai</a:t>
            </a:r>
            <a:endParaRPr lang="tet-TL" sz="1300"/>
          </a:p>
        </p:txBody>
      </p:sp>
      <p:sp>
        <p:nvSpPr>
          <p:cNvPr id="16" name="Shape 16"/>
          <p:cNvSpPr txBox="1"/>
          <p:nvPr/>
        </p:nvSpPr>
        <p:spPr>
          <a:xfrm>
            <a:off x="822960" y="4224528"/>
            <a:ext cx="256032" cy="25603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17" name="Shape 17"/>
          <p:cNvSpPr txBox="1"/>
          <p:nvPr/>
        </p:nvSpPr>
        <p:spPr>
          <a:xfrm>
            <a:off x="822960" y="4233672"/>
            <a:ext cx="256032" cy="2103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1</a:t>
            </a:r>
            <a:endParaRPr lang="tet-TL" sz="1000"/>
          </a:p>
        </p:txBody>
      </p:sp>
      <p:sp>
        <p:nvSpPr>
          <p:cNvPr id="18" name="Shape 18"/>
          <p:cNvSpPr txBox="1"/>
          <p:nvPr/>
        </p:nvSpPr>
        <p:spPr>
          <a:xfrm>
            <a:off x="1225296" y="4206240"/>
            <a:ext cx="987552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5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Reviza label acuan ho independente.</a:t>
            </a:r>
            <a:endParaRPr lang="tet-TL" sz="1500"/>
          </a:p>
        </p:txBody>
      </p:sp>
      <p:sp>
        <p:nvSpPr>
          <p:cNvPr id="19" name="Shape 19"/>
          <p:cNvSpPr txBox="1"/>
          <p:nvPr/>
        </p:nvSpPr>
        <p:spPr>
          <a:xfrm>
            <a:off x="822960" y="4663440"/>
            <a:ext cx="256032" cy="25603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0" name="Shape 20"/>
          <p:cNvSpPr txBox="1"/>
          <p:nvPr/>
        </p:nvSpPr>
        <p:spPr>
          <a:xfrm>
            <a:off x="822960" y="4672583"/>
            <a:ext cx="256032" cy="2103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2</a:t>
            </a:r>
            <a:endParaRPr lang="tet-TL" sz="1000"/>
          </a:p>
        </p:txBody>
      </p:sp>
      <p:sp>
        <p:nvSpPr>
          <p:cNvPr id="21" name="Shape 21"/>
          <p:cNvSpPr txBox="1"/>
          <p:nvPr/>
        </p:nvSpPr>
        <p:spPr>
          <a:xfrm>
            <a:off x="1225296" y="4645152"/>
            <a:ext cx="987552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5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Repete evaluation no relata confusion matrix.</a:t>
            </a:r>
            <a:endParaRPr lang="tet-TL" sz="1500"/>
          </a:p>
        </p:txBody>
      </p:sp>
      <p:sp>
        <p:nvSpPr>
          <p:cNvPr id="22" name="Shape 22"/>
          <p:cNvSpPr txBox="1"/>
          <p:nvPr/>
        </p:nvSpPr>
        <p:spPr>
          <a:xfrm>
            <a:off x="822960" y="5102352"/>
            <a:ext cx="256032" cy="25603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3" name="Shape 23"/>
          <p:cNvSpPr txBox="1"/>
          <p:nvPr/>
        </p:nvSpPr>
        <p:spPr>
          <a:xfrm>
            <a:off x="822960" y="5111496"/>
            <a:ext cx="256032" cy="21031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0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3</a:t>
            </a:r>
            <a:endParaRPr lang="tet-TL" sz="1000"/>
          </a:p>
        </p:txBody>
      </p:sp>
      <p:sp>
        <p:nvSpPr>
          <p:cNvPr id="24" name="Shape 24"/>
          <p:cNvSpPr txBox="1"/>
          <p:nvPr/>
        </p:nvSpPr>
        <p:spPr>
          <a:xfrm>
            <a:off x="1225296" y="5084064"/>
            <a:ext cx="9875520" cy="310896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1500" dirty="0">
                <a:solidFill>
                  <a:srgbClr val="EAF3FF"/>
                </a:solidFill>
                <a:latin typeface="Aptos"/>
                <a:ea typeface="Aptos"/>
                <a:cs typeface="Aptos"/>
              </a:rPr>
              <a:t>Se presiza training, treina modelu klasifikasaun ho label verifikadu.</a:t>
            </a:r>
            <a:endParaRPr lang="tet-TL" sz="1500"/>
          </a:p>
        </p:txBody>
      </p:sp>
      <p:sp>
        <p:nvSpPr>
          <p:cNvPr id="25" name="Shape 25"/>
          <p:cNvSpPr txBox="1"/>
          <p:nvPr/>
        </p:nvSpPr>
        <p:spPr>
          <a:xfrm>
            <a:off x="667512" y="5715000"/>
            <a:ext cx="10927080" cy="420624"/>
          </a:xfrm>
          <a:prstGeom prst="roundRect">
            <a:avLst/>
          </a:prstGeom>
          <a:solidFill>
            <a:srgbClr val="20183E"/>
          </a:solidFill>
          <a:ln w="9525">
            <a:noFill/>
          </a:ln>
        </p:spPr>
        <p:txBody>
          <a:bodyPr/>
          <a:p/>
        </p:txBody>
      </p:sp>
      <p:sp>
        <p:nvSpPr>
          <p:cNvPr id="26" name="Shape 26"/>
          <p:cNvSpPr txBox="1"/>
          <p:nvPr/>
        </p:nvSpPr>
        <p:spPr>
          <a:xfrm>
            <a:off x="868680" y="5751576"/>
            <a:ext cx="10515600" cy="32004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ctr"/>
            <a:r>
              <a:rPr lang="tet-TL" sz="1700" dirty="0">
                <a:b/>
                <a:solidFill>
                  <a:srgbClr val="EAF3FF"/>
                </a:solidFill>
                <a:latin typeface="Aptos"/>
                <a:ea typeface="Aptos"/>
                <a:cs typeface="Aptos"/>
              </a:rPr>
              <a:t>Obrigadu!  ·  Pergunta no komentáriu?</a:t>
            </a:r>
            <a:endParaRPr lang="tet-TL" sz="1700"/>
          </a:p>
        </p:txBody>
      </p:sp>
      <p:sp>
        <p:nvSpPr>
          <p:cNvPr id="27" name="Shape 27"/>
          <p:cNvSpPr txBox="1"/>
          <p:nvPr/>
        </p:nvSpPr>
        <p:spPr>
          <a:xfrm>
            <a:off x="530352" y="6199632"/>
            <a:ext cx="11109960" cy="393192"/>
          </a:xfrm>
          <a:prstGeom prst="roundRect">
            <a:avLst/>
          </a:prstGeom>
          <a:solidFill>
            <a:srgbClr val="15102D"/>
          </a:solidFill>
          <a:ln w="9525">
            <a:noFill/>
          </a:ln>
        </p:spPr>
        <p:txBody>
          <a:bodyPr/>
          <a:p/>
        </p:txBody>
      </p:sp>
      <p:sp>
        <p:nvSpPr>
          <p:cNvPr id="28" name="Shape 28"/>
          <p:cNvSpPr txBox="1"/>
          <p:nvPr/>
        </p:nvSpPr>
        <p:spPr>
          <a:xfrm>
            <a:off x="685800" y="6227064"/>
            <a:ext cx="10789920" cy="301752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/>
        </p:txBody>
      </p:sp>
      <p:sp>
        <p:nvSpPr>
          <p:cNvPr id="29" name="Shape 29"/>
          <p:cNvSpPr txBox="1"/>
          <p:nvPr/>
        </p:nvSpPr>
        <p:spPr>
          <a:xfrm>
            <a:off x="566928" y="6537960"/>
            <a:ext cx="731520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l"/>
            <a:r>
              <a:rPr lang="tet-TL" sz="700" dirty="0">
                <a:b/>
                <a:solidFill>
                  <a:srgbClr val="A7B4D0"/>
                </a:solidFill>
                <a:latin typeface="Aptos"/>
                <a:ea typeface="Aptos"/>
                <a:cs typeface="Aptos"/>
              </a:rPr>
              <a:t>SISTEMA ANALÍTIKU BA KOMENTÁRIU TIKTOK</a:t>
            </a:r>
            <a:endParaRPr lang="tet-TL" sz="700"/>
          </a:p>
        </p:txBody>
      </p:sp>
      <p:sp>
        <p:nvSpPr>
          <p:cNvPr id="30" name="Shape 30"/>
          <p:cNvSpPr txBox="1"/>
          <p:nvPr/>
        </p:nvSpPr>
        <p:spPr>
          <a:xfrm>
            <a:off x="11064240" y="6556248"/>
            <a:ext cx="502920" cy="182880"/>
          </a:xfrm>
          <a:prstGeom prst="rect">
            <a:avLst/>
          </a:prstGeom>
          <a:ln w="0">
            <a:noFill/>
          </a:ln>
        </p:spPr>
        <p:txBody>
          <a:bodyPr wrap="square" anchor="ctr" lIns="54864" rIns="54864" tIns="54864" bIns="54864"/>
          <a:lstStyle/>
          <a:p>
            <a:pPr algn="r"/>
            <a:r>
              <a:rPr lang="tet-TL" sz="900" dirty="0">
                <a:b/>
                <a:solidFill>
                  <a:srgbClr val="28DDF5"/>
                </a:solidFill>
                <a:latin typeface="Aptos"/>
                <a:ea typeface="Aptos"/>
                <a:cs typeface="Aptos"/>
              </a:rPr>
              <a:t>12</a:t>
            </a:r>
            <a:endParaRPr lang="tet-TL" sz="900"/>
          </a:p>
        </p:txBody>
      </p:sp>
    </p:spTree>
  </p:cSld>
</p:sld>
</file>

<file path=ppt/theme/theme1.xml><?xml version="1.0" encoding="utf-8"?>
<a:theme xmlns:a="http://schemas.openxmlformats.org/drawingml/2006/main" name="Serene Teal">
  <a:themeElements>
    <a:clrScheme name="Serene">
      <a:dk1>
        <a:srgbClr val="203A34"/>
      </a:dk1>
      <a:lt1>
        <a:srgbClr val="FFFFFF"/>
      </a:lt1>
      <a:dk2>
        <a:srgbClr val="285447"/>
      </a:dk2>
      <a:lt2>
        <a:srgbClr val="F6F8F3"/>
      </a:lt2>
      <a:accent1>
        <a:srgbClr val="4F806E"/>
      </a:accent1>
      <a:accent2>
        <a:srgbClr val="D09578"/>
      </a:accent2>
      <a:accent3>
        <a:srgbClr val="91AE88"/>
      </a:accent3>
      <a:accent4>
        <a:srgbClr val="D4B878"/>
      </a:accent4>
      <a:accent5>
        <a:srgbClr val="567B8A"/>
      </a:accent5>
      <a:accent6>
        <a:srgbClr val="A88FA8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Aptos"/>
        <a:cs typeface="Aptos"/>
      </a:majorFont>
      <a:minorFont>
        <a:latin typeface="Aptos"/>
        <a:ea typeface="Aptos"/>
        <a:cs typeface="Aptos"/>
      </a:minorFont>
    </a:fontScheme>
    <a:fmtScheme name="Sere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90000"/>
                <a:satMod val="105000"/>
              </a:schemeClr>
            </a:gs>
          </a:gsLst>
          <a:lin ang="0" scaled="1"/>
        </a:gra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95000"/>
            <a:satMod val="170000"/>
          </a:schemeClr>
        </a:solidFill>
        <a:gradFill rotWithShape="1">
          <a:gsLst>
            <a:gs pos="0">
              <a:schemeClr val="phClr">
                <a:lumMod val="90000"/>
              </a:schemeClr>
            </a:gs>
            <a:gs pos="100000">
              <a:schemeClr val="phClr">
                <a:lumMod val="90000"/>
              </a:schemeClr>
            </a:gs>
          </a:gsLst>
          <a:lin ang="0" scaled="1"/>
        </a:gradFill>
      </a:bgFillStyleLst>
    </a:fmtScheme>
  </a:themeElements>
</a:theme>
</file>